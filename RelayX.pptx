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 Avenir Next Arabic Bold" charset="1" panose="020B0803020202020204"/>
      <p:regular r:id="rId18"/>
    </p:embeddedFont>
    <p:embeddedFont>
      <p:font typeface="Akzidenz-Grotesk Bold" charset="1" panose="02000803050000020004"/>
      <p:regular r:id="rId19"/>
    </p:embeddedFont>
    <p:embeddedFont>
      <p:font typeface=" Avenir Next Arabic" charset="1" panose="020B0503020202020204"/>
      <p:regular r:id="rId20"/>
    </p:embeddedFont>
    <p:embeddedFont>
      <p:font typeface="Akzidenz-Grotesk" charset="1" panose="020005030300000200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0" y="0"/>
            <a:ext cx="7620000" cy="10287000"/>
            <a:chOff x="0" y="0"/>
            <a:chExt cx="10160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21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11000" y="8096250"/>
            <a:ext cx="4953000" cy="47625"/>
            <a:chOff x="0" y="0"/>
            <a:chExt cx="6604000" cy="63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0" cy="63500"/>
            </a:xfrm>
            <a:custGeom>
              <a:avLst/>
              <a:gdLst/>
              <a:ahLst/>
              <a:cxnLst/>
              <a:rect r="r" b="b" t="t" l="l"/>
              <a:pathLst>
                <a:path h="63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0D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0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4681" y="4381500"/>
            <a:ext cx="2000250" cy="762000"/>
            <a:chOff x="0" y="0"/>
            <a:chExt cx="2667000" cy="10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67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667000">
                  <a:moveTo>
                    <a:pt x="108857" y="0"/>
                  </a:moveTo>
                  <a:lnTo>
                    <a:pt x="2558143" y="0"/>
                  </a:lnTo>
                  <a:cubicBezTo>
                    <a:pt x="2587014" y="0"/>
                    <a:pt x="2614702" y="11469"/>
                    <a:pt x="2635116" y="31884"/>
                  </a:cubicBezTo>
                  <a:cubicBezTo>
                    <a:pt x="2655531" y="52298"/>
                    <a:pt x="2667000" y="79986"/>
                    <a:pt x="2667000" y="108857"/>
                  </a:cubicBezTo>
                  <a:lnTo>
                    <a:pt x="2667000" y="907143"/>
                  </a:lnTo>
                  <a:cubicBezTo>
                    <a:pt x="2667000" y="936014"/>
                    <a:pt x="2655531" y="963702"/>
                    <a:pt x="2635116" y="984116"/>
                  </a:cubicBezTo>
                  <a:cubicBezTo>
                    <a:pt x="2614702" y="1004531"/>
                    <a:pt x="2587014" y="1016000"/>
                    <a:pt x="2558143" y="1016000"/>
                  </a:cubicBezTo>
                  <a:lnTo>
                    <a:pt x="108857" y="1016000"/>
                  </a:lnTo>
                  <a:cubicBezTo>
                    <a:pt x="79986" y="1016000"/>
                    <a:pt x="52298" y="1004531"/>
                    <a:pt x="31884" y="984116"/>
                  </a:cubicBezTo>
                  <a:cubicBezTo>
                    <a:pt x="11469" y="963702"/>
                    <a:pt x="0" y="936014"/>
                    <a:pt x="0" y="9071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0D21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667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MAIN ROUTER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315031" y="4381500"/>
            <a:ext cx="2000250" cy="762000"/>
            <a:chOff x="0" y="0"/>
            <a:chExt cx="2667000" cy="101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67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667000">
                  <a:moveTo>
                    <a:pt x="108857" y="0"/>
                  </a:moveTo>
                  <a:lnTo>
                    <a:pt x="2558143" y="0"/>
                  </a:lnTo>
                  <a:cubicBezTo>
                    <a:pt x="2587014" y="0"/>
                    <a:pt x="2614702" y="11469"/>
                    <a:pt x="2635116" y="31884"/>
                  </a:cubicBezTo>
                  <a:cubicBezTo>
                    <a:pt x="2655531" y="52298"/>
                    <a:pt x="2667000" y="79986"/>
                    <a:pt x="2667000" y="108857"/>
                  </a:cubicBezTo>
                  <a:lnTo>
                    <a:pt x="2667000" y="907143"/>
                  </a:lnTo>
                  <a:cubicBezTo>
                    <a:pt x="2667000" y="936014"/>
                    <a:pt x="2655531" y="963702"/>
                    <a:pt x="2635116" y="984116"/>
                  </a:cubicBezTo>
                  <a:cubicBezTo>
                    <a:pt x="2614702" y="1004531"/>
                    <a:pt x="2587014" y="1016000"/>
                    <a:pt x="2558143" y="1016000"/>
                  </a:cubicBezTo>
                  <a:lnTo>
                    <a:pt x="108857" y="1016000"/>
                  </a:lnTo>
                  <a:cubicBezTo>
                    <a:pt x="79986" y="1016000"/>
                    <a:pt x="52298" y="1004531"/>
                    <a:pt x="31884" y="984116"/>
                  </a:cubicBezTo>
                  <a:cubicBezTo>
                    <a:pt x="11469" y="963702"/>
                    <a:pt x="0" y="936014"/>
                    <a:pt x="0" y="9071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667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PORTABLE RELAY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115381" y="4381500"/>
            <a:ext cx="2000250" cy="762000"/>
            <a:chOff x="0" y="0"/>
            <a:chExt cx="2667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67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667000">
                  <a:moveTo>
                    <a:pt x="108857" y="0"/>
                  </a:moveTo>
                  <a:lnTo>
                    <a:pt x="2558143" y="0"/>
                  </a:lnTo>
                  <a:cubicBezTo>
                    <a:pt x="2587014" y="0"/>
                    <a:pt x="2614702" y="11469"/>
                    <a:pt x="2635116" y="31884"/>
                  </a:cubicBezTo>
                  <a:cubicBezTo>
                    <a:pt x="2655531" y="52298"/>
                    <a:pt x="2667000" y="79986"/>
                    <a:pt x="2667000" y="108857"/>
                  </a:cubicBezTo>
                  <a:lnTo>
                    <a:pt x="2667000" y="907143"/>
                  </a:lnTo>
                  <a:cubicBezTo>
                    <a:pt x="2667000" y="936014"/>
                    <a:pt x="2655531" y="963702"/>
                    <a:pt x="2635116" y="984116"/>
                  </a:cubicBezTo>
                  <a:cubicBezTo>
                    <a:pt x="2614702" y="1004531"/>
                    <a:pt x="2587014" y="1016000"/>
                    <a:pt x="2558143" y="1016000"/>
                  </a:cubicBezTo>
                  <a:lnTo>
                    <a:pt x="108857" y="1016000"/>
                  </a:lnTo>
                  <a:cubicBezTo>
                    <a:pt x="79986" y="1016000"/>
                    <a:pt x="52298" y="1004531"/>
                    <a:pt x="31884" y="984116"/>
                  </a:cubicBezTo>
                  <a:cubicBezTo>
                    <a:pt x="11469" y="963702"/>
                    <a:pt x="0" y="936014"/>
                    <a:pt x="0" y="9071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0D21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667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USERS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2514931" y="4762500"/>
            <a:ext cx="800100" cy="0"/>
          </a:xfrm>
          <a:prstGeom prst="line">
            <a:avLst/>
          </a:prstGeom>
          <a:ln cap="rnd" w="38100">
            <a:solidFill>
              <a:srgbClr val="20D9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5315281" y="4762500"/>
            <a:ext cx="800100" cy="0"/>
          </a:xfrm>
          <a:prstGeom prst="line">
            <a:avLst/>
          </a:prstGeom>
          <a:ln cap="rnd" w="38100">
            <a:solidFill>
              <a:srgbClr val="20D9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1811000" y="1456974"/>
            <a:ext cx="5234258" cy="5234258"/>
          </a:xfrm>
          <a:custGeom>
            <a:avLst/>
            <a:gdLst/>
            <a:ahLst/>
            <a:cxnLst/>
            <a:rect r="r" b="b" t="t" l="l"/>
            <a:pathLst>
              <a:path h="5234258" w="5234258">
                <a:moveTo>
                  <a:pt x="0" y="0"/>
                </a:moveTo>
                <a:lnTo>
                  <a:pt x="5234258" y="0"/>
                </a:lnTo>
                <a:lnTo>
                  <a:pt x="5234258" y="5234258"/>
                </a:lnTo>
                <a:lnTo>
                  <a:pt x="0" y="5234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14400" y="1085850"/>
            <a:ext cx="6667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D9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PORTABLE WI-FI RELAY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7470" y="1550231"/>
            <a:ext cx="9810750" cy="1948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8"/>
              </a:lnSpc>
            </a:pPr>
            <a:r>
              <a:rPr lang="en-US" sz="69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Connectivity,</a:t>
            </a:r>
          </a:p>
          <a:p>
            <a:pPr algn="l">
              <a:lnSpc>
                <a:spcPts val="7038"/>
              </a:lnSpc>
            </a:pPr>
            <a:r>
              <a:rPr lang="en-US" sz="69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beyond the edge.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7470" y="3470090"/>
            <a:ext cx="79057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B7C8D9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A compact, battery-powered device designed to extend existing Wi-Fi into hard-to-reach places.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4908" y="5676900"/>
            <a:ext cx="9983311" cy="348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</a:pPr>
            <a:r>
              <a:rPr lang="en-US" sz="2477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Team Name : RelayX</a:t>
            </a:r>
          </a:p>
          <a:p>
            <a:pPr algn="l">
              <a:lnSpc>
                <a:spcPts val="3468"/>
              </a:lnSpc>
            </a:pPr>
          </a:p>
          <a:p>
            <a:pPr algn="l">
              <a:lnSpc>
                <a:spcPts val="3468"/>
              </a:lnSpc>
            </a:pPr>
            <a:r>
              <a:rPr lang="en-US" sz="2477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Members : </a:t>
            </a:r>
          </a:p>
          <a:p>
            <a:pPr algn="l">
              <a:lnSpc>
                <a:spcPts val="3468"/>
              </a:lnSpc>
            </a:pPr>
            <a:r>
              <a:rPr lang="en-US" sz="2477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Saqib Shaik (25BCA7695)</a:t>
            </a:r>
          </a:p>
          <a:p>
            <a:pPr algn="l">
              <a:lnSpc>
                <a:spcPts val="3468"/>
              </a:lnSpc>
            </a:pPr>
            <a:r>
              <a:rPr lang="en-US" sz="2477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Meetansh R Jain (25bce7685)</a:t>
            </a:r>
          </a:p>
          <a:p>
            <a:pPr algn="l">
              <a:lnSpc>
                <a:spcPts val="3468"/>
              </a:lnSpc>
            </a:pPr>
            <a:r>
              <a:rPr lang="en-US" sz="2477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Allu Vinay Vamsi (25MIC7004)</a:t>
            </a:r>
          </a:p>
          <a:p>
            <a:pPr algn="l">
              <a:lnSpc>
                <a:spcPts val="3468"/>
              </a:lnSpc>
            </a:pPr>
          </a:p>
          <a:p>
            <a:pPr algn="l">
              <a:lnSpc>
                <a:spcPts val="3468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905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1677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02  / 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52500"/>
            <a:ext cx="142875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33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Wi-Fi ends before the work does.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4000500"/>
            <a:ext cx="3143250" cy="1143000"/>
            <a:chOff x="0" y="0"/>
            <a:chExt cx="4191000" cy="152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91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454727"/>
                  </a:lnTo>
                  <a:cubicBezTo>
                    <a:pt x="4191000" y="1473100"/>
                    <a:pt x="4183702" y="1490719"/>
                    <a:pt x="4170711" y="1503711"/>
                  </a:cubicBezTo>
                  <a:cubicBezTo>
                    <a:pt x="4157719" y="1516702"/>
                    <a:pt x="4140100" y="1524000"/>
                    <a:pt x="4121727" y="1524000"/>
                  </a:cubicBezTo>
                  <a:lnTo>
                    <a:pt x="69273" y="1524000"/>
                  </a:lnTo>
                  <a:cubicBezTo>
                    <a:pt x="50900" y="1524000"/>
                    <a:pt x="33281" y="1516702"/>
                    <a:pt x="20290" y="1503711"/>
                  </a:cubicBezTo>
                  <a:cubicBezTo>
                    <a:pt x="7298" y="1490719"/>
                    <a:pt x="0" y="1473100"/>
                    <a:pt x="0" y="1454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91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STRONG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4057650" y="4572000"/>
            <a:ext cx="952500" cy="0"/>
          </a:xfrm>
          <a:prstGeom prst="line">
            <a:avLst/>
          </a:prstGeom>
          <a:ln cap="rnd" w="47625">
            <a:solidFill>
              <a:srgbClr val="1677FF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010150" y="4000500"/>
            <a:ext cx="3143250" cy="1143000"/>
            <a:chOff x="0" y="0"/>
            <a:chExt cx="4191000" cy="152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91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454727"/>
                  </a:lnTo>
                  <a:cubicBezTo>
                    <a:pt x="4191000" y="1473100"/>
                    <a:pt x="4183702" y="1490719"/>
                    <a:pt x="4170711" y="1503711"/>
                  </a:cubicBezTo>
                  <a:cubicBezTo>
                    <a:pt x="4157719" y="1516702"/>
                    <a:pt x="4140100" y="1524000"/>
                    <a:pt x="4121727" y="1524000"/>
                  </a:cubicBezTo>
                  <a:lnTo>
                    <a:pt x="69273" y="1524000"/>
                  </a:lnTo>
                  <a:cubicBezTo>
                    <a:pt x="50900" y="1524000"/>
                    <a:pt x="33281" y="1516702"/>
                    <a:pt x="20290" y="1503711"/>
                  </a:cubicBezTo>
                  <a:cubicBezTo>
                    <a:pt x="7298" y="1490719"/>
                    <a:pt x="0" y="1473100"/>
                    <a:pt x="0" y="1454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54A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191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USABLE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8153400" y="4572000"/>
            <a:ext cx="952500" cy="0"/>
          </a:xfrm>
          <a:prstGeom prst="line">
            <a:avLst/>
          </a:prstGeom>
          <a:ln cap="rnd" w="38100">
            <a:solidFill>
              <a:srgbClr val="54A3FF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9105900" y="4000500"/>
            <a:ext cx="3143250" cy="1143000"/>
            <a:chOff x="0" y="0"/>
            <a:chExt cx="4191000" cy="152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91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454727"/>
                  </a:lnTo>
                  <a:cubicBezTo>
                    <a:pt x="4191000" y="1473100"/>
                    <a:pt x="4183702" y="1490719"/>
                    <a:pt x="4170711" y="1503711"/>
                  </a:cubicBezTo>
                  <a:cubicBezTo>
                    <a:pt x="4157719" y="1516702"/>
                    <a:pt x="4140100" y="1524000"/>
                    <a:pt x="4121727" y="1524000"/>
                  </a:cubicBezTo>
                  <a:lnTo>
                    <a:pt x="69273" y="1524000"/>
                  </a:lnTo>
                  <a:cubicBezTo>
                    <a:pt x="50900" y="1524000"/>
                    <a:pt x="33281" y="1516702"/>
                    <a:pt x="20290" y="1503711"/>
                  </a:cubicBezTo>
                  <a:cubicBezTo>
                    <a:pt x="7298" y="1490719"/>
                    <a:pt x="0" y="1473100"/>
                    <a:pt x="0" y="1454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FFBD59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191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WEAK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2249150" y="4572000"/>
            <a:ext cx="952500" cy="0"/>
          </a:xfrm>
          <a:prstGeom prst="line">
            <a:avLst/>
          </a:prstGeom>
          <a:ln cap="rnd" w="28575">
            <a:solidFill>
              <a:srgbClr val="FFBD59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3201650" y="4000500"/>
            <a:ext cx="3143250" cy="1143000"/>
            <a:chOff x="0" y="0"/>
            <a:chExt cx="4191000" cy="152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91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454727"/>
                  </a:lnTo>
                  <a:cubicBezTo>
                    <a:pt x="4191000" y="1473100"/>
                    <a:pt x="4183702" y="1490719"/>
                    <a:pt x="4170711" y="1503711"/>
                  </a:cubicBezTo>
                  <a:cubicBezTo>
                    <a:pt x="4157719" y="1516702"/>
                    <a:pt x="4140100" y="1524000"/>
                    <a:pt x="4121727" y="1524000"/>
                  </a:cubicBezTo>
                  <a:lnTo>
                    <a:pt x="69273" y="1524000"/>
                  </a:lnTo>
                  <a:cubicBezTo>
                    <a:pt x="50900" y="1524000"/>
                    <a:pt x="33281" y="1516702"/>
                    <a:pt x="20290" y="1503711"/>
                  </a:cubicBezTo>
                  <a:cubicBezTo>
                    <a:pt x="7298" y="1490719"/>
                    <a:pt x="0" y="1473100"/>
                    <a:pt x="0" y="1454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E95C6A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191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DEAD ZONE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14400" y="2828925"/>
            <a:ext cx="1285875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0233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Router coverage decays across distance, walls and changing environments.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6076950"/>
            <a:ext cx="164592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1677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EVENTS   •   CAMPUSES   •   FARMS   •   OUTDOOR VENUES   •   CONSTRUCTION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905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D9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03  /  TARGET CUSTOMER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52500"/>
            <a:ext cx="142875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Start where networks move.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2952750"/>
            <a:ext cx="4953000" cy="1809750"/>
            <a:chOff x="0" y="0"/>
            <a:chExt cx="6604000" cy="2413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2369039"/>
                  </a:lnTo>
                  <a:cubicBezTo>
                    <a:pt x="6604000" y="2380698"/>
                    <a:pt x="6599368" y="2391880"/>
                    <a:pt x="6591124" y="2400124"/>
                  </a:cubicBezTo>
                  <a:cubicBezTo>
                    <a:pt x="6582880" y="2408368"/>
                    <a:pt x="6571698" y="2413000"/>
                    <a:pt x="6560038" y="2413000"/>
                  </a:cubicBezTo>
                  <a:lnTo>
                    <a:pt x="43962" y="2413000"/>
                  </a:lnTo>
                  <a:cubicBezTo>
                    <a:pt x="32302" y="2413000"/>
                    <a:pt x="21120" y="2408368"/>
                    <a:pt x="12876" y="2400124"/>
                  </a:cubicBezTo>
                  <a:cubicBezTo>
                    <a:pt x="4632" y="2391880"/>
                    <a:pt x="0" y="2380698"/>
                    <a:pt x="0" y="2369039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60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COLLEGE CAMPUSES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&amp; STUDENT EVENTS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381750" y="2952750"/>
            <a:ext cx="4953000" cy="1809750"/>
            <a:chOff x="0" y="0"/>
            <a:chExt cx="6604000" cy="241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2369039"/>
                  </a:lnTo>
                  <a:cubicBezTo>
                    <a:pt x="6604000" y="2380698"/>
                    <a:pt x="6599368" y="2391880"/>
                    <a:pt x="6591124" y="2400124"/>
                  </a:cubicBezTo>
                  <a:cubicBezTo>
                    <a:pt x="6582880" y="2408368"/>
                    <a:pt x="6571698" y="2413000"/>
                    <a:pt x="6560038" y="2413000"/>
                  </a:cubicBezTo>
                  <a:lnTo>
                    <a:pt x="43962" y="2413000"/>
                  </a:lnTo>
                  <a:cubicBezTo>
                    <a:pt x="32302" y="2413000"/>
                    <a:pt x="21120" y="2408368"/>
                    <a:pt x="12876" y="2400124"/>
                  </a:cubicBezTo>
                  <a:cubicBezTo>
                    <a:pt x="4632" y="2391880"/>
                    <a:pt x="0" y="2380698"/>
                    <a:pt x="0" y="2369039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0D213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60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EVENT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ORGANIZERS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849100" y="2952750"/>
            <a:ext cx="4953000" cy="1809750"/>
            <a:chOff x="0" y="0"/>
            <a:chExt cx="6604000" cy="241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2369039"/>
                  </a:lnTo>
                  <a:cubicBezTo>
                    <a:pt x="6604000" y="2380698"/>
                    <a:pt x="6599368" y="2391880"/>
                    <a:pt x="6591124" y="2400124"/>
                  </a:cubicBezTo>
                  <a:cubicBezTo>
                    <a:pt x="6582880" y="2408368"/>
                    <a:pt x="6571698" y="2413000"/>
                    <a:pt x="6560038" y="2413000"/>
                  </a:cubicBezTo>
                  <a:lnTo>
                    <a:pt x="43962" y="2413000"/>
                  </a:lnTo>
                  <a:cubicBezTo>
                    <a:pt x="32302" y="2413000"/>
                    <a:pt x="21120" y="2408368"/>
                    <a:pt x="12876" y="2400124"/>
                  </a:cubicBezTo>
                  <a:cubicBezTo>
                    <a:pt x="4632" y="2391880"/>
                    <a:pt x="0" y="2380698"/>
                    <a:pt x="0" y="2369039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0D21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60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TEMPORARY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WORKSPACES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5334000"/>
            <a:ext cx="4953000" cy="1809750"/>
            <a:chOff x="0" y="0"/>
            <a:chExt cx="6604000" cy="2413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0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2369039"/>
                  </a:lnTo>
                  <a:cubicBezTo>
                    <a:pt x="6604000" y="2380698"/>
                    <a:pt x="6599368" y="2391880"/>
                    <a:pt x="6591124" y="2400124"/>
                  </a:cubicBezTo>
                  <a:cubicBezTo>
                    <a:pt x="6582880" y="2408368"/>
                    <a:pt x="6571698" y="2413000"/>
                    <a:pt x="6560038" y="2413000"/>
                  </a:cubicBezTo>
                  <a:lnTo>
                    <a:pt x="43962" y="2413000"/>
                  </a:lnTo>
                  <a:cubicBezTo>
                    <a:pt x="32302" y="2413000"/>
                    <a:pt x="21120" y="2408368"/>
                    <a:pt x="12876" y="2400124"/>
                  </a:cubicBezTo>
                  <a:cubicBezTo>
                    <a:pt x="4632" y="2391880"/>
                    <a:pt x="0" y="2380698"/>
                    <a:pt x="0" y="2369039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0D21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60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CONSTRUCTION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SITES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81750" y="5334000"/>
            <a:ext cx="4953000" cy="1809750"/>
            <a:chOff x="0" y="0"/>
            <a:chExt cx="6604000" cy="241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0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2369039"/>
                  </a:lnTo>
                  <a:cubicBezTo>
                    <a:pt x="6604000" y="2380698"/>
                    <a:pt x="6599368" y="2391880"/>
                    <a:pt x="6591124" y="2400124"/>
                  </a:cubicBezTo>
                  <a:cubicBezTo>
                    <a:pt x="6582880" y="2408368"/>
                    <a:pt x="6571698" y="2413000"/>
                    <a:pt x="6560038" y="2413000"/>
                  </a:cubicBezTo>
                  <a:lnTo>
                    <a:pt x="43962" y="2413000"/>
                  </a:lnTo>
                  <a:cubicBezTo>
                    <a:pt x="32302" y="2413000"/>
                    <a:pt x="21120" y="2408368"/>
                    <a:pt x="12876" y="2400124"/>
                  </a:cubicBezTo>
                  <a:cubicBezTo>
                    <a:pt x="4632" y="2391880"/>
                    <a:pt x="0" y="2380698"/>
                    <a:pt x="0" y="2369039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0D21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60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FARMS &amp;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SEMI-RURAL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849100" y="5334000"/>
            <a:ext cx="4953000" cy="1809750"/>
            <a:chOff x="0" y="0"/>
            <a:chExt cx="6604000" cy="2413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0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2369039"/>
                  </a:lnTo>
                  <a:cubicBezTo>
                    <a:pt x="6604000" y="2380698"/>
                    <a:pt x="6599368" y="2391880"/>
                    <a:pt x="6591124" y="2400124"/>
                  </a:cubicBezTo>
                  <a:cubicBezTo>
                    <a:pt x="6582880" y="2408368"/>
                    <a:pt x="6571698" y="2413000"/>
                    <a:pt x="6560038" y="2413000"/>
                  </a:cubicBezTo>
                  <a:lnTo>
                    <a:pt x="43962" y="2413000"/>
                  </a:lnTo>
                  <a:cubicBezTo>
                    <a:pt x="32302" y="2413000"/>
                    <a:pt x="21120" y="2408368"/>
                    <a:pt x="12876" y="2400124"/>
                  </a:cubicBezTo>
                  <a:cubicBezTo>
                    <a:pt x="4632" y="2391880"/>
                    <a:pt x="0" y="2380698"/>
                    <a:pt x="0" y="2369039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0D2138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60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WAREHOUSES &amp;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OUTDOOR VENUES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4400" y="7953375"/>
            <a:ext cx="14287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PRIMARY PERSONA ASSUMPTION  →  Campus event organizer needing fast, temporary coverage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8437245"/>
            <a:ext cx="142875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ALTERNATIVES: extenders • access points • mesh • hotspots • cabling • travel routers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67750" y="2571750"/>
            <a:ext cx="5905500" cy="876300"/>
            <a:chOff x="0" y="0"/>
            <a:chExt cx="7874000" cy="116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74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7874000">
                  <a:moveTo>
                    <a:pt x="36871" y="0"/>
                  </a:moveTo>
                  <a:lnTo>
                    <a:pt x="7837129" y="0"/>
                  </a:lnTo>
                  <a:cubicBezTo>
                    <a:pt x="7857492" y="0"/>
                    <a:pt x="7874000" y="16508"/>
                    <a:pt x="7874000" y="36871"/>
                  </a:cubicBezTo>
                  <a:lnTo>
                    <a:pt x="7874000" y="1131529"/>
                  </a:lnTo>
                  <a:cubicBezTo>
                    <a:pt x="7874000" y="1151892"/>
                    <a:pt x="7857492" y="1168400"/>
                    <a:pt x="7837129" y="1168400"/>
                  </a:cubicBezTo>
                  <a:lnTo>
                    <a:pt x="36871" y="1168400"/>
                  </a:lnTo>
                  <a:cubicBezTo>
                    <a:pt x="16508" y="1168400"/>
                    <a:pt x="0" y="1151892"/>
                    <a:pt x="0" y="1131529"/>
                  </a:cubicBezTo>
                  <a:lnTo>
                    <a:pt x="0" y="36871"/>
                  </a:lnTo>
                  <a:cubicBezTo>
                    <a:pt x="0" y="16508"/>
                    <a:pt x="16508" y="0"/>
                    <a:pt x="368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874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10233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INTERNET +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10233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MAIN ROUTER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11620500" y="3448050"/>
            <a:ext cx="0" cy="409575"/>
          </a:xfrm>
          <a:prstGeom prst="line">
            <a:avLst/>
          </a:prstGeom>
          <a:ln cap="rnd" w="28575">
            <a:solidFill>
              <a:srgbClr val="20D9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8667750" y="3857625"/>
            <a:ext cx="5905500" cy="876300"/>
            <a:chOff x="0" y="0"/>
            <a:chExt cx="7874000" cy="116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74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7874000">
                  <a:moveTo>
                    <a:pt x="36871" y="0"/>
                  </a:moveTo>
                  <a:lnTo>
                    <a:pt x="7837129" y="0"/>
                  </a:lnTo>
                  <a:cubicBezTo>
                    <a:pt x="7857492" y="0"/>
                    <a:pt x="7874000" y="16508"/>
                    <a:pt x="7874000" y="36871"/>
                  </a:cubicBezTo>
                  <a:lnTo>
                    <a:pt x="7874000" y="1131529"/>
                  </a:lnTo>
                  <a:cubicBezTo>
                    <a:pt x="7874000" y="1151892"/>
                    <a:pt x="7857492" y="1168400"/>
                    <a:pt x="7837129" y="1168400"/>
                  </a:cubicBezTo>
                  <a:lnTo>
                    <a:pt x="36871" y="1168400"/>
                  </a:lnTo>
                  <a:cubicBezTo>
                    <a:pt x="16508" y="1168400"/>
                    <a:pt x="0" y="1151892"/>
                    <a:pt x="0" y="1131529"/>
                  </a:cubicBezTo>
                  <a:lnTo>
                    <a:pt x="0" y="36871"/>
                  </a:lnTo>
                  <a:cubicBezTo>
                    <a:pt x="0" y="16508"/>
                    <a:pt x="16508" y="0"/>
                    <a:pt x="368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874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10233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EXISTING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10233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WI-FI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11620500" y="4733925"/>
            <a:ext cx="0" cy="409575"/>
          </a:xfrm>
          <a:prstGeom prst="line">
            <a:avLst/>
          </a:prstGeom>
          <a:ln cap="rnd" w="28575">
            <a:solidFill>
              <a:srgbClr val="20D9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8667750" y="5143500"/>
            <a:ext cx="5905500" cy="876300"/>
            <a:chOff x="0" y="0"/>
            <a:chExt cx="7874000" cy="1168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74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7874000">
                  <a:moveTo>
                    <a:pt x="36871" y="0"/>
                  </a:moveTo>
                  <a:lnTo>
                    <a:pt x="7837129" y="0"/>
                  </a:lnTo>
                  <a:cubicBezTo>
                    <a:pt x="7857492" y="0"/>
                    <a:pt x="7874000" y="16508"/>
                    <a:pt x="7874000" y="36871"/>
                  </a:cubicBezTo>
                  <a:lnTo>
                    <a:pt x="7874000" y="1131529"/>
                  </a:lnTo>
                  <a:cubicBezTo>
                    <a:pt x="7874000" y="1151892"/>
                    <a:pt x="7857492" y="1168400"/>
                    <a:pt x="7837129" y="1168400"/>
                  </a:cubicBezTo>
                  <a:lnTo>
                    <a:pt x="36871" y="1168400"/>
                  </a:lnTo>
                  <a:cubicBezTo>
                    <a:pt x="16508" y="1168400"/>
                    <a:pt x="0" y="1151892"/>
                    <a:pt x="0" y="1131529"/>
                  </a:cubicBezTo>
                  <a:lnTo>
                    <a:pt x="0" y="36871"/>
                  </a:lnTo>
                  <a:cubicBezTo>
                    <a:pt x="0" y="16508"/>
                    <a:pt x="16508" y="0"/>
                    <a:pt x="36871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874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PORTABLE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RELAY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1620500" y="6019800"/>
            <a:ext cx="0" cy="409575"/>
          </a:xfrm>
          <a:prstGeom prst="line">
            <a:avLst/>
          </a:prstGeom>
          <a:ln cap="rnd" w="28575">
            <a:solidFill>
              <a:srgbClr val="20D9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8667750" y="6429375"/>
            <a:ext cx="5905500" cy="876300"/>
            <a:chOff x="0" y="0"/>
            <a:chExt cx="7874000" cy="1168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74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7874000">
                  <a:moveTo>
                    <a:pt x="36871" y="0"/>
                  </a:moveTo>
                  <a:lnTo>
                    <a:pt x="7837129" y="0"/>
                  </a:lnTo>
                  <a:cubicBezTo>
                    <a:pt x="7857492" y="0"/>
                    <a:pt x="7874000" y="16508"/>
                    <a:pt x="7874000" y="36871"/>
                  </a:cubicBezTo>
                  <a:lnTo>
                    <a:pt x="7874000" y="1131529"/>
                  </a:lnTo>
                  <a:cubicBezTo>
                    <a:pt x="7874000" y="1151892"/>
                    <a:pt x="7857492" y="1168400"/>
                    <a:pt x="7837129" y="1168400"/>
                  </a:cubicBezTo>
                  <a:lnTo>
                    <a:pt x="36871" y="1168400"/>
                  </a:lnTo>
                  <a:cubicBezTo>
                    <a:pt x="16508" y="1168400"/>
                    <a:pt x="0" y="1151892"/>
                    <a:pt x="0" y="1131529"/>
                  </a:cubicBezTo>
                  <a:lnTo>
                    <a:pt x="0" y="36871"/>
                  </a:lnTo>
                  <a:cubicBezTo>
                    <a:pt x="0" y="16508"/>
                    <a:pt x="16508" y="0"/>
                    <a:pt x="368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874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10233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EXTENDED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10233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COVERAGE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1620500" y="7305675"/>
            <a:ext cx="0" cy="409575"/>
          </a:xfrm>
          <a:prstGeom prst="line">
            <a:avLst/>
          </a:prstGeom>
          <a:ln cap="rnd" w="28575">
            <a:solidFill>
              <a:srgbClr val="20D9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8667750" y="7715250"/>
            <a:ext cx="5905500" cy="876300"/>
            <a:chOff x="0" y="0"/>
            <a:chExt cx="7874000" cy="1168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74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7874000">
                  <a:moveTo>
                    <a:pt x="36871" y="0"/>
                  </a:moveTo>
                  <a:lnTo>
                    <a:pt x="7837129" y="0"/>
                  </a:lnTo>
                  <a:cubicBezTo>
                    <a:pt x="7857492" y="0"/>
                    <a:pt x="7874000" y="16508"/>
                    <a:pt x="7874000" y="36871"/>
                  </a:cubicBezTo>
                  <a:lnTo>
                    <a:pt x="7874000" y="1131529"/>
                  </a:lnTo>
                  <a:cubicBezTo>
                    <a:pt x="7874000" y="1151892"/>
                    <a:pt x="7857492" y="1168400"/>
                    <a:pt x="7837129" y="1168400"/>
                  </a:cubicBezTo>
                  <a:lnTo>
                    <a:pt x="36871" y="1168400"/>
                  </a:lnTo>
                  <a:cubicBezTo>
                    <a:pt x="16508" y="1168400"/>
                    <a:pt x="0" y="1151892"/>
                    <a:pt x="0" y="1131529"/>
                  </a:cubicBezTo>
                  <a:lnTo>
                    <a:pt x="0" y="36871"/>
                  </a:lnTo>
                  <a:cubicBezTo>
                    <a:pt x="0" y="16508"/>
                    <a:pt x="16508" y="0"/>
                    <a:pt x="368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874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10233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USERS +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10233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DEVICES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148584" y="2761117"/>
            <a:ext cx="4514371" cy="4514371"/>
          </a:xfrm>
          <a:custGeom>
            <a:avLst/>
            <a:gdLst/>
            <a:ahLst/>
            <a:cxnLst/>
            <a:rect r="r" b="b" t="t" l="l"/>
            <a:pathLst>
              <a:path h="4514371" w="4514371">
                <a:moveTo>
                  <a:pt x="0" y="0"/>
                </a:moveTo>
                <a:lnTo>
                  <a:pt x="4514371" y="0"/>
                </a:lnTo>
                <a:lnTo>
                  <a:pt x="4514371" y="4514371"/>
                </a:lnTo>
                <a:lnTo>
                  <a:pt x="0" y="45143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14400" y="5905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1677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04  /  PROPOSED SOLUTION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952500"/>
            <a:ext cx="142875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33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Drop in. Power on. Extend.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8963025"/>
            <a:ext cx="15716250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 b="true">
                <a:solidFill>
                  <a:srgbClr val="1677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PROPOSED MVP  •  Rechargeable battery  •  USB-C  •  Simple setup  •  Placement indicator  •  No SIM required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905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D9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05  /  MARKET OPPORTUNITY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52500"/>
            <a:ext cx="142875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Size the wedge, then the network.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28750" y="3000375"/>
            <a:ext cx="3905250" cy="3905250"/>
            <a:chOff x="0" y="0"/>
            <a:chExt cx="5207000" cy="520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07000" cy="5207000"/>
            </a:xfrm>
            <a:custGeom>
              <a:avLst/>
              <a:gdLst/>
              <a:ahLst/>
              <a:cxnLst/>
              <a:rect r="r" b="b" t="t" l="l"/>
              <a:pathLst>
                <a:path h="5207000" w="5207000">
                  <a:moveTo>
                    <a:pt x="2603500" y="0"/>
                  </a:moveTo>
                  <a:cubicBezTo>
                    <a:pt x="4041373" y="0"/>
                    <a:pt x="5207000" y="1165627"/>
                    <a:pt x="5207000" y="2603500"/>
                  </a:cubicBezTo>
                  <a:cubicBezTo>
                    <a:pt x="5207000" y="4041373"/>
                    <a:pt x="4041373" y="5207000"/>
                    <a:pt x="2603500" y="5207000"/>
                  </a:cubicBezTo>
                  <a:cubicBezTo>
                    <a:pt x="1165627" y="5207000"/>
                    <a:pt x="0" y="4041373"/>
                    <a:pt x="0" y="2603500"/>
                  </a:cubicBezTo>
                  <a:cubicBezTo>
                    <a:pt x="0" y="1165627"/>
                    <a:pt x="1165627" y="0"/>
                    <a:pt x="2603500" y="0"/>
                  </a:cubicBezTo>
                  <a:close/>
                </a:path>
              </a:pathLst>
            </a:custGeom>
            <a:solidFill>
              <a:srgbClr val="0D213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428750" y="4010978"/>
            <a:ext cx="390525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1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250" y="5159693"/>
            <a:ext cx="3524250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20D9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₹12,300 Cr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381750" y="3667125"/>
            <a:ext cx="3238500" cy="3238500"/>
            <a:chOff x="0" y="0"/>
            <a:chExt cx="4318000" cy="4318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18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4318000">
                  <a:moveTo>
                    <a:pt x="2159000" y="0"/>
                  </a:moveTo>
                  <a:cubicBezTo>
                    <a:pt x="3351383" y="0"/>
                    <a:pt x="4318000" y="966617"/>
                    <a:pt x="4318000" y="2159000"/>
                  </a:cubicBezTo>
                  <a:cubicBezTo>
                    <a:pt x="4318000" y="3351383"/>
                    <a:pt x="3351383" y="4318000"/>
                    <a:pt x="2159000" y="4318000"/>
                  </a:cubicBezTo>
                  <a:cubicBezTo>
                    <a:pt x="966617" y="4318000"/>
                    <a:pt x="0" y="3351383"/>
                    <a:pt x="0" y="2159000"/>
                  </a:cubicBezTo>
                  <a:cubicBezTo>
                    <a:pt x="0" y="966617"/>
                    <a:pt x="966617" y="0"/>
                    <a:pt x="2159000" y="0"/>
                  </a:cubicBezTo>
                  <a:close/>
                </a:path>
              </a:pathLst>
            </a:custGeom>
            <a:solidFill>
              <a:srgbClr val="10365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6381750" y="4471035"/>
            <a:ext cx="323850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1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72250" y="5446395"/>
            <a:ext cx="2857500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20D9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₹45.8 Cr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334750" y="4333875"/>
            <a:ext cx="2571750" cy="2571750"/>
            <a:chOff x="0" y="0"/>
            <a:chExt cx="3429000" cy="3429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290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3429000">
                  <a:moveTo>
                    <a:pt x="1714500" y="0"/>
                  </a:moveTo>
                  <a:cubicBezTo>
                    <a:pt x="2661392" y="0"/>
                    <a:pt x="3429000" y="767608"/>
                    <a:pt x="3429000" y="1714500"/>
                  </a:cubicBezTo>
                  <a:cubicBezTo>
                    <a:pt x="3429000" y="2661392"/>
                    <a:pt x="2661392" y="3429000"/>
                    <a:pt x="1714500" y="3429000"/>
                  </a:cubicBezTo>
                  <a:cubicBezTo>
                    <a:pt x="767608" y="3429000"/>
                    <a:pt x="0" y="2661392"/>
                    <a:pt x="0" y="1714500"/>
                  </a:cubicBezTo>
                  <a:cubicBezTo>
                    <a:pt x="0" y="767608"/>
                    <a:pt x="767608" y="0"/>
                    <a:pt x="1714500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1334750" y="4931093"/>
            <a:ext cx="257175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1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25250" y="5752147"/>
            <a:ext cx="2190750" cy="41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9"/>
              </a:lnSpc>
            </a:pPr>
            <a:r>
              <a:rPr lang="en-US" sz="2449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₹2.3 Cr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7400925"/>
            <a:ext cx="11430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CUSTOMERS × UNITS / CUSTOMER × SELLING PRICE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7941945"/>
            <a:ext cx="16002000" cy="179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Sources: </a:t>
            </a:r>
          </a:p>
          <a:p>
            <a:pPr algn="l">
              <a:lnSpc>
                <a:spcPts val="2869"/>
              </a:lnSpc>
            </a:pPr>
            <a:r>
              <a:rPr lang="en-US" sz="2049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IMARC Group — India Wi-Fi Market.</a:t>
            </a:r>
          </a:p>
          <a:p>
            <a:pPr algn="l">
              <a:lnSpc>
                <a:spcPts val="2869"/>
              </a:lnSpc>
            </a:pPr>
            <a:r>
              <a:rPr lang="en-US" sz="2049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Ministry of Information &amp; Broadcasting — India's Live Events Economy</a:t>
            </a:r>
          </a:p>
          <a:p>
            <a:pPr algn="l">
              <a:lnSpc>
                <a:spcPts val="2869"/>
              </a:lnSpc>
            </a:pPr>
            <a:r>
              <a:rPr lang="en-US" sz="2049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AISHE (All India Survey on Higher Education)</a:t>
            </a:r>
          </a:p>
          <a:p>
            <a:pPr algn="l">
              <a:lnSpc>
                <a:spcPts val="286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905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1677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06  /  COMPETITION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52500"/>
            <a:ext cx="142875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33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Built for temporary, portable coverage.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2762250"/>
            <a:ext cx="2571750" cy="590550"/>
            <a:chOff x="0" y="0"/>
            <a:chExt cx="3429000" cy="787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29000" cy="787400"/>
            </a:xfrm>
            <a:custGeom>
              <a:avLst/>
              <a:gdLst/>
              <a:ahLst/>
              <a:cxnLst/>
              <a:rect r="r" b="b" t="t" l="l"/>
              <a:pathLst>
                <a:path h="7874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0D213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429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619500" y="2762250"/>
            <a:ext cx="2571750" cy="590550"/>
            <a:chOff x="0" y="0"/>
            <a:chExt cx="3429000" cy="787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29000" cy="787400"/>
            </a:xfrm>
            <a:custGeom>
              <a:avLst/>
              <a:gdLst/>
              <a:ahLst/>
              <a:cxnLst/>
              <a:rect r="r" b="b" t="t" l="l"/>
              <a:pathLst>
                <a:path h="7874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29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24600" y="2762250"/>
            <a:ext cx="2571750" cy="590550"/>
            <a:chOff x="0" y="0"/>
            <a:chExt cx="3429000" cy="787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29000" cy="787400"/>
            </a:xfrm>
            <a:custGeom>
              <a:avLst/>
              <a:gdLst/>
              <a:ahLst/>
              <a:cxnLst/>
              <a:rect r="r" b="b" t="t" l="l"/>
              <a:pathLst>
                <a:path h="7874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0D21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429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29700" y="2762250"/>
            <a:ext cx="2571750" cy="590550"/>
            <a:chOff x="0" y="0"/>
            <a:chExt cx="3429000" cy="787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29000" cy="787400"/>
            </a:xfrm>
            <a:custGeom>
              <a:avLst/>
              <a:gdLst/>
              <a:ahLst/>
              <a:cxnLst/>
              <a:rect r="r" b="b" t="t" l="l"/>
              <a:pathLst>
                <a:path h="7874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0D21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429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734800" y="2762250"/>
            <a:ext cx="2571750" cy="590550"/>
            <a:chOff x="0" y="0"/>
            <a:chExt cx="3429000" cy="787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29000" cy="787400"/>
            </a:xfrm>
            <a:custGeom>
              <a:avLst/>
              <a:gdLst/>
              <a:ahLst/>
              <a:cxnLst/>
              <a:rect r="r" b="b" t="t" l="l"/>
              <a:pathLst>
                <a:path h="7874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0D21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429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439900" y="2762250"/>
            <a:ext cx="2571750" cy="590550"/>
            <a:chOff x="0" y="0"/>
            <a:chExt cx="3429000" cy="787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29000" cy="787400"/>
            </a:xfrm>
            <a:custGeom>
              <a:avLst/>
              <a:gdLst/>
              <a:ahLst/>
              <a:cxnLst/>
              <a:rect r="r" b="b" t="t" l="l"/>
              <a:pathLst>
                <a:path h="7874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0D2138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429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" y="3467100"/>
            <a:ext cx="16097250" cy="628650"/>
            <a:chOff x="0" y="0"/>
            <a:chExt cx="21463000" cy="838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463000" cy="838200"/>
            </a:xfrm>
            <a:custGeom>
              <a:avLst/>
              <a:gdLst/>
              <a:ahLst/>
              <a:cxnLst/>
              <a:rect r="r" b="b" t="t" l="l"/>
              <a:pathLst>
                <a:path h="838200" w="21463000">
                  <a:moveTo>
                    <a:pt x="0" y="0"/>
                  </a:moveTo>
                  <a:lnTo>
                    <a:pt x="21463000" y="0"/>
                  </a:lnTo>
                  <a:lnTo>
                    <a:pt x="214630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1463000" cy="87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4191000"/>
            <a:ext cx="16097250" cy="628650"/>
            <a:chOff x="0" y="0"/>
            <a:chExt cx="21463000" cy="838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463000" cy="838200"/>
            </a:xfrm>
            <a:custGeom>
              <a:avLst/>
              <a:gdLst/>
              <a:ahLst/>
              <a:cxnLst/>
              <a:rect r="r" b="b" t="t" l="l"/>
              <a:pathLst>
                <a:path h="838200" w="21463000">
                  <a:moveTo>
                    <a:pt x="0" y="0"/>
                  </a:moveTo>
                  <a:lnTo>
                    <a:pt x="21463000" y="0"/>
                  </a:lnTo>
                  <a:lnTo>
                    <a:pt x="214630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E9F0F7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1463000" cy="87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" y="4914900"/>
            <a:ext cx="16097250" cy="628650"/>
            <a:chOff x="0" y="0"/>
            <a:chExt cx="21463000" cy="838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463000" cy="838200"/>
            </a:xfrm>
            <a:custGeom>
              <a:avLst/>
              <a:gdLst/>
              <a:ahLst/>
              <a:cxnLst/>
              <a:rect r="r" b="b" t="t" l="l"/>
              <a:pathLst>
                <a:path h="838200" w="21463000">
                  <a:moveTo>
                    <a:pt x="0" y="0"/>
                  </a:moveTo>
                  <a:lnTo>
                    <a:pt x="21463000" y="0"/>
                  </a:lnTo>
                  <a:lnTo>
                    <a:pt x="214630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1463000" cy="87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4400" y="5638800"/>
            <a:ext cx="16097250" cy="628650"/>
            <a:chOff x="0" y="0"/>
            <a:chExt cx="21463000" cy="838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463000" cy="838200"/>
            </a:xfrm>
            <a:custGeom>
              <a:avLst/>
              <a:gdLst/>
              <a:ahLst/>
              <a:cxnLst/>
              <a:rect r="r" b="b" t="t" l="l"/>
              <a:pathLst>
                <a:path h="838200" w="21463000">
                  <a:moveTo>
                    <a:pt x="0" y="0"/>
                  </a:moveTo>
                  <a:lnTo>
                    <a:pt x="21463000" y="0"/>
                  </a:lnTo>
                  <a:lnTo>
                    <a:pt x="214630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E9F0F7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1463000" cy="87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" y="6362700"/>
            <a:ext cx="16097250" cy="628650"/>
            <a:chOff x="0" y="0"/>
            <a:chExt cx="21463000" cy="838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463000" cy="838200"/>
            </a:xfrm>
            <a:custGeom>
              <a:avLst/>
              <a:gdLst/>
              <a:ahLst/>
              <a:cxnLst/>
              <a:rect r="r" b="b" t="t" l="l"/>
              <a:pathLst>
                <a:path h="838200" w="21463000">
                  <a:moveTo>
                    <a:pt x="0" y="0"/>
                  </a:moveTo>
                  <a:lnTo>
                    <a:pt x="21463000" y="0"/>
                  </a:lnTo>
                  <a:lnTo>
                    <a:pt x="214630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1463000" cy="87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4400" y="7086600"/>
            <a:ext cx="16097250" cy="628650"/>
            <a:chOff x="0" y="0"/>
            <a:chExt cx="21463000" cy="838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463000" cy="838200"/>
            </a:xfrm>
            <a:custGeom>
              <a:avLst/>
              <a:gdLst/>
              <a:ahLst/>
              <a:cxnLst/>
              <a:rect r="r" b="b" t="t" l="l"/>
              <a:pathLst>
                <a:path h="838200" w="21463000">
                  <a:moveTo>
                    <a:pt x="0" y="0"/>
                  </a:moveTo>
                  <a:lnTo>
                    <a:pt x="21463000" y="0"/>
                  </a:lnTo>
                  <a:lnTo>
                    <a:pt x="214630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E9F0F7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1463000" cy="87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4400" y="7810500"/>
            <a:ext cx="16097250" cy="628650"/>
            <a:chOff x="0" y="0"/>
            <a:chExt cx="21463000" cy="838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463000" cy="838200"/>
            </a:xfrm>
            <a:custGeom>
              <a:avLst/>
              <a:gdLst/>
              <a:ahLst/>
              <a:cxnLst/>
              <a:rect r="r" b="b" t="t" l="l"/>
              <a:pathLst>
                <a:path h="838200" w="21463000">
                  <a:moveTo>
                    <a:pt x="0" y="0"/>
                  </a:moveTo>
                  <a:lnTo>
                    <a:pt x="21463000" y="0"/>
                  </a:lnTo>
                  <a:lnTo>
                    <a:pt x="214630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1463000" cy="87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09650" y="2895600"/>
            <a:ext cx="238125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275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CRITERIA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714750" y="2895600"/>
            <a:ext cx="238125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275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RELAY*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419850" y="2895600"/>
            <a:ext cx="238125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275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EXTENDER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124950" y="2895600"/>
            <a:ext cx="238125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275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TRAVEL ROUTER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830050" y="2895600"/>
            <a:ext cx="238125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275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MESH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535150" y="2895600"/>
            <a:ext cx="238125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275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HOTSPOT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23950" y="3638550"/>
            <a:ext cx="2476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10233B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PORTABILITY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714750" y="34956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1677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●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419850" y="34956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◐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124950" y="34956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○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830050" y="34956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◐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535150" y="34956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○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23950" y="4362450"/>
            <a:ext cx="2476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10233B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BATTERY OPERATION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714750" y="42195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1677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◐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419850" y="42195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○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124950" y="42195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◐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830050" y="42195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○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535150" y="42195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●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23950" y="5086350"/>
            <a:ext cx="2476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10233B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TEMPORARY DEPLOYMENT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714750" y="49434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1677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○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419850" y="49434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◐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124950" y="49434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○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830050" y="49434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●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535150" y="49434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◐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23950" y="5810250"/>
            <a:ext cx="2476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10233B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SETUP SIMPLICITY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714750" y="56673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1677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◐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419850" y="56673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○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124950" y="56673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●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830050" y="56673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◐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4535150" y="56673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○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23950" y="6534150"/>
            <a:ext cx="2476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10233B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USES EXISTING INTERNET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3714750" y="63912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1677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○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6419850" y="63912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●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124950" y="63912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◐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1830050" y="63912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○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535150" y="63912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◐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23950" y="7258050"/>
            <a:ext cx="2476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10233B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PERMANENT INFRASTRUCTURE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3714750" y="71151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1677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●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6419850" y="71151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◐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9124950" y="71151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○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1830050" y="71151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◐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4535150" y="71151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○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123950" y="7981950"/>
            <a:ext cx="2476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10233B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OUTDOOR / MOBILE FIT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3714750" y="78390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1677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◐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6419850" y="78390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○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9124950" y="78390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◐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1830050" y="78390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○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4535150" y="7839075"/>
            <a:ext cx="238125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890A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●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914400" y="8734425"/>
            <a:ext cx="14287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677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POSITIONING  /  Portable + Affordable + Battery Powered + Quick Deployment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905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D9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07  /  BUSINESS MODEL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52500"/>
            <a:ext cx="142875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Hardware first. Deployment next.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2952750"/>
            <a:ext cx="4953000" cy="1714500"/>
            <a:chOff x="0" y="0"/>
            <a:chExt cx="66040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2242039"/>
                  </a:lnTo>
                  <a:cubicBezTo>
                    <a:pt x="6604000" y="2253698"/>
                    <a:pt x="6599368" y="2264880"/>
                    <a:pt x="6591124" y="2273124"/>
                  </a:cubicBezTo>
                  <a:cubicBezTo>
                    <a:pt x="6582880" y="2281368"/>
                    <a:pt x="6571698" y="2286000"/>
                    <a:pt x="6560038" y="2286000"/>
                  </a:cubicBezTo>
                  <a:lnTo>
                    <a:pt x="43962" y="2286000"/>
                  </a:lnTo>
                  <a:cubicBezTo>
                    <a:pt x="32302" y="2286000"/>
                    <a:pt x="21120" y="2281368"/>
                    <a:pt x="12876" y="2273124"/>
                  </a:cubicBezTo>
                  <a:cubicBezTo>
                    <a:pt x="4632" y="2264880"/>
                    <a:pt x="0" y="2253698"/>
                    <a:pt x="0" y="2242039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60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DEVICE SALES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Direct hardware revenue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381750" y="2952750"/>
            <a:ext cx="4953000" cy="1714500"/>
            <a:chOff x="0" y="0"/>
            <a:chExt cx="6604000" cy="228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2242039"/>
                  </a:lnTo>
                  <a:cubicBezTo>
                    <a:pt x="6604000" y="2253698"/>
                    <a:pt x="6599368" y="2264880"/>
                    <a:pt x="6591124" y="2273124"/>
                  </a:cubicBezTo>
                  <a:cubicBezTo>
                    <a:pt x="6582880" y="2281368"/>
                    <a:pt x="6571698" y="2286000"/>
                    <a:pt x="6560038" y="2286000"/>
                  </a:cubicBezTo>
                  <a:lnTo>
                    <a:pt x="43962" y="2286000"/>
                  </a:lnTo>
                  <a:cubicBezTo>
                    <a:pt x="32302" y="2286000"/>
                    <a:pt x="21120" y="2281368"/>
                    <a:pt x="12876" y="2273124"/>
                  </a:cubicBezTo>
                  <a:cubicBezTo>
                    <a:pt x="4632" y="2264880"/>
                    <a:pt x="0" y="2253698"/>
                    <a:pt x="0" y="2242039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0D213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60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BULK SALES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Colleges, events, organizations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849100" y="2952750"/>
            <a:ext cx="4953000" cy="1714500"/>
            <a:chOff x="0" y="0"/>
            <a:chExt cx="6604000" cy="228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2242039"/>
                  </a:lnTo>
                  <a:cubicBezTo>
                    <a:pt x="6604000" y="2253698"/>
                    <a:pt x="6599368" y="2264880"/>
                    <a:pt x="6591124" y="2273124"/>
                  </a:cubicBezTo>
                  <a:cubicBezTo>
                    <a:pt x="6582880" y="2281368"/>
                    <a:pt x="6571698" y="2286000"/>
                    <a:pt x="6560038" y="2286000"/>
                  </a:cubicBezTo>
                  <a:lnTo>
                    <a:pt x="43962" y="2286000"/>
                  </a:lnTo>
                  <a:cubicBezTo>
                    <a:pt x="32302" y="2286000"/>
                    <a:pt x="21120" y="2281368"/>
                    <a:pt x="12876" y="2273124"/>
                  </a:cubicBezTo>
                  <a:cubicBezTo>
                    <a:pt x="4632" y="2264880"/>
                    <a:pt x="0" y="2253698"/>
                    <a:pt x="0" y="2242039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0D21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60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FUTURE RENTAL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Event deployment model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14400" y="6486525"/>
            <a:ext cx="3810000" cy="28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b="true" sz="1749" spc="209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COST DRIVERS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7019925"/>
            <a:ext cx="158115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099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Wi-Fi module  /  PCB + electronics  /  antenna  /  battery  /  power management  /  enclosure  /  assembly  /  packaging  / 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905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1677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08  /  VALIDATION PLAN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52500"/>
            <a:ext cx="142875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33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Evidence before scale.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2857500"/>
            <a:ext cx="704850" cy="704850"/>
            <a:chOff x="0" y="0"/>
            <a:chExt cx="939800" cy="93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308919" y="0"/>
                  </a:moveTo>
                  <a:lnTo>
                    <a:pt x="630881" y="0"/>
                  </a:lnTo>
                  <a:cubicBezTo>
                    <a:pt x="712811" y="0"/>
                    <a:pt x="791386" y="32547"/>
                    <a:pt x="849320" y="90480"/>
                  </a:cubicBezTo>
                  <a:cubicBezTo>
                    <a:pt x="907253" y="148414"/>
                    <a:pt x="939800" y="226989"/>
                    <a:pt x="939800" y="308919"/>
                  </a:cubicBezTo>
                  <a:lnTo>
                    <a:pt x="939800" y="630881"/>
                  </a:lnTo>
                  <a:cubicBezTo>
                    <a:pt x="939800" y="712811"/>
                    <a:pt x="907253" y="791386"/>
                    <a:pt x="849320" y="849320"/>
                  </a:cubicBezTo>
                  <a:cubicBezTo>
                    <a:pt x="791386" y="907253"/>
                    <a:pt x="712811" y="939800"/>
                    <a:pt x="630881" y="939800"/>
                  </a:cubicBezTo>
                  <a:lnTo>
                    <a:pt x="308919" y="939800"/>
                  </a:lnTo>
                  <a:cubicBezTo>
                    <a:pt x="226989" y="939800"/>
                    <a:pt x="148414" y="907253"/>
                    <a:pt x="90480" y="849320"/>
                  </a:cubicBezTo>
                  <a:cubicBezTo>
                    <a:pt x="32547" y="791386"/>
                    <a:pt x="0" y="712811"/>
                    <a:pt x="0" y="630881"/>
                  </a:cubicBezTo>
                  <a:lnTo>
                    <a:pt x="0" y="308919"/>
                  </a:lnTo>
                  <a:cubicBezTo>
                    <a:pt x="0" y="226989"/>
                    <a:pt x="32547" y="148414"/>
                    <a:pt x="90480" y="90480"/>
                  </a:cubicBezTo>
                  <a:cubicBezTo>
                    <a:pt x="148414" y="32547"/>
                    <a:pt x="226989" y="0"/>
                    <a:pt x="308919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398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○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05900" y="2857500"/>
            <a:ext cx="704850" cy="704850"/>
            <a:chOff x="0" y="0"/>
            <a:chExt cx="939800" cy="939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308919" y="0"/>
                  </a:moveTo>
                  <a:lnTo>
                    <a:pt x="630881" y="0"/>
                  </a:lnTo>
                  <a:cubicBezTo>
                    <a:pt x="712811" y="0"/>
                    <a:pt x="791386" y="32547"/>
                    <a:pt x="849320" y="90480"/>
                  </a:cubicBezTo>
                  <a:cubicBezTo>
                    <a:pt x="907253" y="148414"/>
                    <a:pt x="939800" y="226989"/>
                    <a:pt x="939800" y="308919"/>
                  </a:cubicBezTo>
                  <a:lnTo>
                    <a:pt x="939800" y="630881"/>
                  </a:lnTo>
                  <a:cubicBezTo>
                    <a:pt x="939800" y="712811"/>
                    <a:pt x="907253" y="791386"/>
                    <a:pt x="849320" y="849320"/>
                  </a:cubicBezTo>
                  <a:cubicBezTo>
                    <a:pt x="791386" y="907253"/>
                    <a:pt x="712811" y="939800"/>
                    <a:pt x="630881" y="939800"/>
                  </a:cubicBezTo>
                  <a:lnTo>
                    <a:pt x="308919" y="939800"/>
                  </a:lnTo>
                  <a:cubicBezTo>
                    <a:pt x="226989" y="939800"/>
                    <a:pt x="148414" y="907253"/>
                    <a:pt x="90480" y="849320"/>
                  </a:cubicBezTo>
                  <a:cubicBezTo>
                    <a:pt x="32547" y="791386"/>
                    <a:pt x="0" y="712811"/>
                    <a:pt x="0" y="630881"/>
                  </a:cubicBezTo>
                  <a:lnTo>
                    <a:pt x="0" y="308919"/>
                  </a:lnTo>
                  <a:cubicBezTo>
                    <a:pt x="0" y="226989"/>
                    <a:pt x="32547" y="148414"/>
                    <a:pt x="90480" y="90480"/>
                  </a:cubicBezTo>
                  <a:cubicBezTo>
                    <a:pt x="148414" y="32547"/>
                    <a:pt x="226989" y="0"/>
                    <a:pt x="308919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398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○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4210050"/>
            <a:ext cx="704850" cy="704850"/>
            <a:chOff x="0" y="0"/>
            <a:chExt cx="939800" cy="939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308919" y="0"/>
                  </a:moveTo>
                  <a:lnTo>
                    <a:pt x="630881" y="0"/>
                  </a:lnTo>
                  <a:cubicBezTo>
                    <a:pt x="712811" y="0"/>
                    <a:pt x="791386" y="32547"/>
                    <a:pt x="849320" y="90480"/>
                  </a:cubicBezTo>
                  <a:cubicBezTo>
                    <a:pt x="907253" y="148414"/>
                    <a:pt x="939800" y="226989"/>
                    <a:pt x="939800" y="308919"/>
                  </a:cubicBezTo>
                  <a:lnTo>
                    <a:pt x="939800" y="630881"/>
                  </a:lnTo>
                  <a:cubicBezTo>
                    <a:pt x="939800" y="712811"/>
                    <a:pt x="907253" y="791386"/>
                    <a:pt x="849320" y="849320"/>
                  </a:cubicBezTo>
                  <a:cubicBezTo>
                    <a:pt x="791386" y="907253"/>
                    <a:pt x="712811" y="939800"/>
                    <a:pt x="630881" y="939800"/>
                  </a:cubicBezTo>
                  <a:lnTo>
                    <a:pt x="308919" y="939800"/>
                  </a:lnTo>
                  <a:cubicBezTo>
                    <a:pt x="226989" y="939800"/>
                    <a:pt x="148414" y="907253"/>
                    <a:pt x="90480" y="849320"/>
                  </a:cubicBezTo>
                  <a:cubicBezTo>
                    <a:pt x="32547" y="791386"/>
                    <a:pt x="0" y="712811"/>
                    <a:pt x="0" y="630881"/>
                  </a:cubicBezTo>
                  <a:lnTo>
                    <a:pt x="0" y="308919"/>
                  </a:lnTo>
                  <a:cubicBezTo>
                    <a:pt x="0" y="226989"/>
                    <a:pt x="32547" y="148414"/>
                    <a:pt x="90480" y="90480"/>
                  </a:cubicBezTo>
                  <a:cubicBezTo>
                    <a:pt x="148414" y="32547"/>
                    <a:pt x="226989" y="0"/>
                    <a:pt x="308919" y="0"/>
                  </a:cubicBezTo>
                  <a:close/>
                </a:path>
              </a:pathLst>
            </a:custGeom>
            <a:solidFill>
              <a:srgbClr val="CBD8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398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10233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—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05900" y="4210050"/>
            <a:ext cx="704850" cy="704850"/>
            <a:chOff x="0" y="0"/>
            <a:chExt cx="939800" cy="939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308919" y="0"/>
                  </a:moveTo>
                  <a:lnTo>
                    <a:pt x="630881" y="0"/>
                  </a:lnTo>
                  <a:cubicBezTo>
                    <a:pt x="712811" y="0"/>
                    <a:pt x="791386" y="32547"/>
                    <a:pt x="849320" y="90480"/>
                  </a:cubicBezTo>
                  <a:cubicBezTo>
                    <a:pt x="907253" y="148414"/>
                    <a:pt x="939800" y="226989"/>
                    <a:pt x="939800" y="308919"/>
                  </a:cubicBezTo>
                  <a:lnTo>
                    <a:pt x="939800" y="630881"/>
                  </a:lnTo>
                  <a:cubicBezTo>
                    <a:pt x="939800" y="712811"/>
                    <a:pt x="907253" y="791386"/>
                    <a:pt x="849320" y="849320"/>
                  </a:cubicBezTo>
                  <a:cubicBezTo>
                    <a:pt x="791386" y="907253"/>
                    <a:pt x="712811" y="939800"/>
                    <a:pt x="630881" y="939800"/>
                  </a:cubicBezTo>
                  <a:lnTo>
                    <a:pt x="308919" y="939800"/>
                  </a:lnTo>
                  <a:cubicBezTo>
                    <a:pt x="226989" y="939800"/>
                    <a:pt x="148414" y="907253"/>
                    <a:pt x="90480" y="849320"/>
                  </a:cubicBezTo>
                  <a:cubicBezTo>
                    <a:pt x="32547" y="791386"/>
                    <a:pt x="0" y="712811"/>
                    <a:pt x="0" y="630881"/>
                  </a:cubicBezTo>
                  <a:lnTo>
                    <a:pt x="0" y="308919"/>
                  </a:lnTo>
                  <a:cubicBezTo>
                    <a:pt x="0" y="226989"/>
                    <a:pt x="32547" y="148414"/>
                    <a:pt x="90480" y="90480"/>
                  </a:cubicBezTo>
                  <a:cubicBezTo>
                    <a:pt x="148414" y="32547"/>
                    <a:pt x="226989" y="0"/>
                    <a:pt x="308919" y="0"/>
                  </a:cubicBezTo>
                  <a:close/>
                </a:path>
              </a:pathLst>
            </a:custGeom>
            <a:solidFill>
              <a:srgbClr val="CBD8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398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10233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—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5562600"/>
            <a:ext cx="704850" cy="704850"/>
            <a:chOff x="0" y="0"/>
            <a:chExt cx="939800" cy="939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308919" y="0"/>
                  </a:moveTo>
                  <a:lnTo>
                    <a:pt x="630881" y="0"/>
                  </a:lnTo>
                  <a:cubicBezTo>
                    <a:pt x="712811" y="0"/>
                    <a:pt x="791386" y="32547"/>
                    <a:pt x="849320" y="90480"/>
                  </a:cubicBezTo>
                  <a:cubicBezTo>
                    <a:pt x="907253" y="148414"/>
                    <a:pt x="939800" y="226989"/>
                    <a:pt x="939800" y="308919"/>
                  </a:cubicBezTo>
                  <a:lnTo>
                    <a:pt x="939800" y="630881"/>
                  </a:lnTo>
                  <a:cubicBezTo>
                    <a:pt x="939800" y="712811"/>
                    <a:pt x="907253" y="791386"/>
                    <a:pt x="849320" y="849320"/>
                  </a:cubicBezTo>
                  <a:cubicBezTo>
                    <a:pt x="791386" y="907253"/>
                    <a:pt x="712811" y="939800"/>
                    <a:pt x="630881" y="939800"/>
                  </a:cubicBezTo>
                  <a:lnTo>
                    <a:pt x="308919" y="939800"/>
                  </a:lnTo>
                  <a:cubicBezTo>
                    <a:pt x="226989" y="939800"/>
                    <a:pt x="148414" y="907253"/>
                    <a:pt x="90480" y="849320"/>
                  </a:cubicBezTo>
                  <a:cubicBezTo>
                    <a:pt x="32547" y="791386"/>
                    <a:pt x="0" y="712811"/>
                    <a:pt x="0" y="630881"/>
                  </a:cubicBezTo>
                  <a:lnTo>
                    <a:pt x="0" y="308919"/>
                  </a:lnTo>
                  <a:cubicBezTo>
                    <a:pt x="0" y="226989"/>
                    <a:pt x="32547" y="148414"/>
                    <a:pt x="90480" y="90480"/>
                  </a:cubicBezTo>
                  <a:cubicBezTo>
                    <a:pt x="148414" y="32547"/>
                    <a:pt x="226989" y="0"/>
                    <a:pt x="308919" y="0"/>
                  </a:cubicBezTo>
                  <a:close/>
                </a:path>
              </a:pathLst>
            </a:custGeom>
            <a:solidFill>
              <a:srgbClr val="CBD8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398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10233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—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05900" y="5562600"/>
            <a:ext cx="704850" cy="704850"/>
            <a:chOff x="0" y="0"/>
            <a:chExt cx="939800" cy="939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308919" y="0"/>
                  </a:moveTo>
                  <a:lnTo>
                    <a:pt x="630881" y="0"/>
                  </a:lnTo>
                  <a:cubicBezTo>
                    <a:pt x="712811" y="0"/>
                    <a:pt x="791386" y="32547"/>
                    <a:pt x="849320" y="90480"/>
                  </a:cubicBezTo>
                  <a:cubicBezTo>
                    <a:pt x="907253" y="148414"/>
                    <a:pt x="939800" y="226989"/>
                    <a:pt x="939800" y="308919"/>
                  </a:cubicBezTo>
                  <a:lnTo>
                    <a:pt x="939800" y="630881"/>
                  </a:lnTo>
                  <a:cubicBezTo>
                    <a:pt x="939800" y="712811"/>
                    <a:pt x="907253" y="791386"/>
                    <a:pt x="849320" y="849320"/>
                  </a:cubicBezTo>
                  <a:cubicBezTo>
                    <a:pt x="791386" y="907253"/>
                    <a:pt x="712811" y="939800"/>
                    <a:pt x="630881" y="939800"/>
                  </a:cubicBezTo>
                  <a:lnTo>
                    <a:pt x="308919" y="939800"/>
                  </a:lnTo>
                  <a:cubicBezTo>
                    <a:pt x="226989" y="939800"/>
                    <a:pt x="148414" y="907253"/>
                    <a:pt x="90480" y="849320"/>
                  </a:cubicBezTo>
                  <a:cubicBezTo>
                    <a:pt x="32547" y="791386"/>
                    <a:pt x="0" y="712811"/>
                    <a:pt x="0" y="630881"/>
                  </a:cubicBezTo>
                  <a:lnTo>
                    <a:pt x="0" y="308919"/>
                  </a:lnTo>
                  <a:cubicBezTo>
                    <a:pt x="0" y="226989"/>
                    <a:pt x="32547" y="148414"/>
                    <a:pt x="90480" y="90480"/>
                  </a:cubicBezTo>
                  <a:cubicBezTo>
                    <a:pt x="148414" y="32547"/>
                    <a:pt x="226989" y="0"/>
                    <a:pt x="308919" y="0"/>
                  </a:cubicBezTo>
                  <a:close/>
                </a:path>
              </a:pathLst>
            </a:custGeom>
            <a:solidFill>
              <a:srgbClr val="CBD8E6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398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10233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—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" y="6915150"/>
            <a:ext cx="704850" cy="704850"/>
            <a:chOff x="0" y="0"/>
            <a:chExt cx="939800" cy="939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308919" y="0"/>
                  </a:moveTo>
                  <a:lnTo>
                    <a:pt x="630881" y="0"/>
                  </a:lnTo>
                  <a:cubicBezTo>
                    <a:pt x="712811" y="0"/>
                    <a:pt x="791386" y="32547"/>
                    <a:pt x="849320" y="90480"/>
                  </a:cubicBezTo>
                  <a:cubicBezTo>
                    <a:pt x="907253" y="148414"/>
                    <a:pt x="939800" y="226989"/>
                    <a:pt x="939800" y="308919"/>
                  </a:cubicBezTo>
                  <a:lnTo>
                    <a:pt x="939800" y="630881"/>
                  </a:lnTo>
                  <a:cubicBezTo>
                    <a:pt x="939800" y="712811"/>
                    <a:pt x="907253" y="791386"/>
                    <a:pt x="849320" y="849320"/>
                  </a:cubicBezTo>
                  <a:cubicBezTo>
                    <a:pt x="791386" y="907253"/>
                    <a:pt x="712811" y="939800"/>
                    <a:pt x="630881" y="939800"/>
                  </a:cubicBezTo>
                  <a:lnTo>
                    <a:pt x="308919" y="939800"/>
                  </a:lnTo>
                  <a:cubicBezTo>
                    <a:pt x="226989" y="939800"/>
                    <a:pt x="148414" y="907253"/>
                    <a:pt x="90480" y="849320"/>
                  </a:cubicBezTo>
                  <a:cubicBezTo>
                    <a:pt x="32547" y="791386"/>
                    <a:pt x="0" y="712811"/>
                    <a:pt x="0" y="630881"/>
                  </a:cubicBezTo>
                  <a:lnTo>
                    <a:pt x="0" y="308919"/>
                  </a:lnTo>
                  <a:cubicBezTo>
                    <a:pt x="0" y="226989"/>
                    <a:pt x="32547" y="148414"/>
                    <a:pt x="90480" y="90480"/>
                  </a:cubicBezTo>
                  <a:cubicBezTo>
                    <a:pt x="148414" y="32547"/>
                    <a:pt x="226989" y="0"/>
                    <a:pt x="308919" y="0"/>
                  </a:cubicBezTo>
                  <a:close/>
                </a:path>
              </a:pathLst>
            </a:custGeom>
            <a:solidFill>
              <a:srgbClr val="CBD8E6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398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10233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—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05900" y="6915150"/>
            <a:ext cx="704850" cy="704850"/>
            <a:chOff x="0" y="0"/>
            <a:chExt cx="939800" cy="939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308919" y="0"/>
                  </a:moveTo>
                  <a:lnTo>
                    <a:pt x="630881" y="0"/>
                  </a:lnTo>
                  <a:cubicBezTo>
                    <a:pt x="712811" y="0"/>
                    <a:pt x="791386" y="32547"/>
                    <a:pt x="849320" y="90480"/>
                  </a:cubicBezTo>
                  <a:cubicBezTo>
                    <a:pt x="907253" y="148414"/>
                    <a:pt x="939800" y="226989"/>
                    <a:pt x="939800" y="308919"/>
                  </a:cubicBezTo>
                  <a:lnTo>
                    <a:pt x="939800" y="630881"/>
                  </a:lnTo>
                  <a:cubicBezTo>
                    <a:pt x="939800" y="712811"/>
                    <a:pt x="907253" y="791386"/>
                    <a:pt x="849320" y="849320"/>
                  </a:cubicBezTo>
                  <a:cubicBezTo>
                    <a:pt x="791386" y="907253"/>
                    <a:pt x="712811" y="939800"/>
                    <a:pt x="630881" y="939800"/>
                  </a:cubicBezTo>
                  <a:lnTo>
                    <a:pt x="308919" y="939800"/>
                  </a:lnTo>
                  <a:cubicBezTo>
                    <a:pt x="226989" y="939800"/>
                    <a:pt x="148414" y="907253"/>
                    <a:pt x="90480" y="849320"/>
                  </a:cubicBezTo>
                  <a:cubicBezTo>
                    <a:pt x="32547" y="791386"/>
                    <a:pt x="0" y="712811"/>
                    <a:pt x="0" y="630881"/>
                  </a:cubicBezTo>
                  <a:lnTo>
                    <a:pt x="0" y="308919"/>
                  </a:lnTo>
                  <a:cubicBezTo>
                    <a:pt x="0" y="226989"/>
                    <a:pt x="32547" y="148414"/>
                    <a:pt x="90480" y="90480"/>
                  </a:cubicBezTo>
                  <a:cubicBezTo>
                    <a:pt x="148414" y="32547"/>
                    <a:pt x="226989" y="0"/>
                    <a:pt x="308919" y="0"/>
                  </a:cubicBezTo>
                  <a:close/>
                </a:path>
              </a:pathLst>
            </a:custGeom>
            <a:solidFill>
              <a:srgbClr val="CBD8E6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398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10233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—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914525" y="2847975"/>
            <a:ext cx="4572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0233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Customer interviews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14525" y="3211830"/>
            <a:ext cx="3048000" cy="2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74" b="true">
                <a:solidFill>
                  <a:srgbClr val="1677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[7/ 20]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06025" y="2847975"/>
            <a:ext cx="4572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0233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Online surveys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06025" y="3257550"/>
            <a:ext cx="30480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4" b="true">
                <a:solidFill>
                  <a:srgbClr val="1677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[[7/50]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914525" y="4200525"/>
            <a:ext cx="4572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0233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Prototype range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14525" y="4610100"/>
            <a:ext cx="3048000" cy="2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74" b="true">
                <a:solidFill>
                  <a:srgbClr val="1677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50–100 m target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106025" y="4200525"/>
            <a:ext cx="4572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0233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Connection stability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106025" y="4610100"/>
            <a:ext cx="3048000" cy="2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74" b="true">
                <a:solidFill>
                  <a:srgbClr val="1677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[testing]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14525" y="5553075"/>
            <a:ext cx="4572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0233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Battery life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14525" y="5962650"/>
            <a:ext cx="3048000" cy="28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4"/>
              </a:lnSpc>
            </a:pPr>
            <a:r>
              <a:rPr lang="en-US" sz="1674" b="true">
                <a:solidFill>
                  <a:srgbClr val="1677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6–8 hours target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106025" y="5553075"/>
            <a:ext cx="4572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0233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Max simultaneous users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106025" y="5962650"/>
            <a:ext cx="3048000" cy="2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74" b="true">
                <a:solidFill>
                  <a:srgbClr val="1677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[Testing]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914525" y="6905625"/>
            <a:ext cx="4572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0233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Competitor comparison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914525" y="7315200"/>
            <a:ext cx="3048000" cy="2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74" b="true">
                <a:solidFill>
                  <a:srgbClr val="1677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5 alternatives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106025" y="6905625"/>
            <a:ext cx="4572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0233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Willingness to pay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106025" y="7315200"/>
            <a:ext cx="3048000" cy="2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74" b="true">
                <a:solidFill>
                  <a:srgbClr val="1677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[1000-1500Rupees]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14400" y="8543925"/>
            <a:ext cx="1571625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677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GOAL  /  Validate whether portability and temporary deployment solve a meaningful enough problem for customers to pay for.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905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D9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09  /  GO-TO-MARKET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52500"/>
            <a:ext cx="142875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Win the campus. Prove the playbook.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14375" y="3905250"/>
            <a:ext cx="2286000" cy="1238250"/>
            <a:chOff x="0" y="0"/>
            <a:chExt cx="3048000" cy="165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555750"/>
                  </a:lnTo>
                  <a:cubicBezTo>
                    <a:pt x="3048000" y="1608355"/>
                    <a:pt x="3005355" y="1651000"/>
                    <a:pt x="2952750" y="1651000"/>
                  </a:cubicBezTo>
                  <a:lnTo>
                    <a:pt x="95250" y="1651000"/>
                  </a:lnTo>
                  <a:cubicBezTo>
                    <a:pt x="42645" y="1651000"/>
                    <a:pt x="0" y="1608355"/>
                    <a:pt x="0" y="1555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048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PROTOTYPE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3000375" y="4524375"/>
            <a:ext cx="619125" cy="0"/>
          </a:xfrm>
          <a:prstGeom prst="line">
            <a:avLst/>
          </a:prstGeom>
          <a:ln cap="rnd" w="28575">
            <a:solidFill>
              <a:srgbClr val="20D9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3619500" y="3905250"/>
            <a:ext cx="2286000" cy="1238250"/>
            <a:chOff x="0" y="0"/>
            <a:chExt cx="3048000" cy="165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555750"/>
                  </a:lnTo>
                  <a:cubicBezTo>
                    <a:pt x="3048000" y="1608355"/>
                    <a:pt x="3005355" y="1651000"/>
                    <a:pt x="2952750" y="1651000"/>
                  </a:cubicBezTo>
                  <a:lnTo>
                    <a:pt x="95250" y="1651000"/>
                  </a:lnTo>
                  <a:cubicBezTo>
                    <a:pt x="42645" y="1651000"/>
                    <a:pt x="0" y="1608355"/>
                    <a:pt x="0" y="1555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048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CAMPUS PILOT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5905500" y="4524375"/>
            <a:ext cx="619125" cy="0"/>
          </a:xfrm>
          <a:prstGeom prst="line">
            <a:avLst/>
          </a:prstGeom>
          <a:ln cap="rnd" w="28575">
            <a:solidFill>
              <a:srgbClr val="20D9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6524625" y="3905250"/>
            <a:ext cx="2286000" cy="1238250"/>
            <a:chOff x="0" y="0"/>
            <a:chExt cx="3048000" cy="165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555750"/>
                  </a:lnTo>
                  <a:cubicBezTo>
                    <a:pt x="3048000" y="1608355"/>
                    <a:pt x="3005355" y="1651000"/>
                    <a:pt x="2952750" y="1651000"/>
                  </a:cubicBezTo>
                  <a:lnTo>
                    <a:pt x="95250" y="1651000"/>
                  </a:lnTo>
                  <a:cubicBezTo>
                    <a:pt x="42645" y="1651000"/>
                    <a:pt x="0" y="1608355"/>
                    <a:pt x="0" y="1555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0D21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048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FEEDBACK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8810625" y="4524375"/>
            <a:ext cx="619125" cy="0"/>
          </a:xfrm>
          <a:prstGeom prst="line">
            <a:avLst/>
          </a:prstGeom>
          <a:ln cap="rnd" w="28575">
            <a:solidFill>
              <a:srgbClr val="20D9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429750" y="3905250"/>
            <a:ext cx="2286000" cy="1238250"/>
            <a:chOff x="0" y="0"/>
            <a:chExt cx="3048000" cy="1651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555750"/>
                  </a:lnTo>
                  <a:cubicBezTo>
                    <a:pt x="3048000" y="1608355"/>
                    <a:pt x="3005355" y="1651000"/>
                    <a:pt x="2952750" y="1651000"/>
                  </a:cubicBezTo>
                  <a:lnTo>
                    <a:pt x="95250" y="1651000"/>
                  </a:lnTo>
                  <a:cubicBezTo>
                    <a:pt x="42645" y="1651000"/>
                    <a:pt x="0" y="1608355"/>
                    <a:pt x="0" y="1555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0D21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048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REFINED PRODUCT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1715750" y="4524375"/>
            <a:ext cx="619125" cy="0"/>
          </a:xfrm>
          <a:prstGeom prst="line">
            <a:avLst/>
          </a:prstGeom>
          <a:ln cap="rnd" w="28575">
            <a:solidFill>
              <a:srgbClr val="20D9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2334875" y="3905250"/>
            <a:ext cx="2286000" cy="1238250"/>
            <a:chOff x="0" y="0"/>
            <a:chExt cx="3048000" cy="1651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555750"/>
                  </a:lnTo>
                  <a:cubicBezTo>
                    <a:pt x="3048000" y="1608355"/>
                    <a:pt x="3005355" y="1651000"/>
                    <a:pt x="2952750" y="1651000"/>
                  </a:cubicBezTo>
                  <a:lnTo>
                    <a:pt x="95250" y="1651000"/>
                  </a:lnTo>
                  <a:cubicBezTo>
                    <a:pt x="42645" y="1651000"/>
                    <a:pt x="0" y="1608355"/>
                    <a:pt x="0" y="1555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0D2138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048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EARLY SALES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4620875" y="4524375"/>
            <a:ext cx="619125" cy="0"/>
          </a:xfrm>
          <a:prstGeom prst="line">
            <a:avLst/>
          </a:prstGeom>
          <a:ln cap="rnd" w="28575">
            <a:solidFill>
              <a:srgbClr val="20D9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5240000" y="3905250"/>
            <a:ext cx="2286000" cy="1238250"/>
            <a:chOff x="0" y="0"/>
            <a:chExt cx="3048000" cy="165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555750"/>
                  </a:lnTo>
                  <a:cubicBezTo>
                    <a:pt x="3048000" y="1608355"/>
                    <a:pt x="3005355" y="1651000"/>
                    <a:pt x="2952750" y="1651000"/>
                  </a:cubicBezTo>
                  <a:lnTo>
                    <a:pt x="95250" y="1651000"/>
                  </a:lnTo>
                  <a:cubicBezTo>
                    <a:pt x="42645" y="1651000"/>
                    <a:pt x="0" y="1608355"/>
                    <a:pt x="0" y="1555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0D2138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048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WIDER MARKET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14400" y="2733675"/>
            <a:ext cx="14287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20D9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BEACHHEAD  /  College campuses • student events • small event organizers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" y="6638925"/>
            <a:ext cx="157162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 spc="197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DIRECT DEMOS     CAMPUS NETWORKS     EVENT ORGANIZERS     IoT COMMUNITIES     DTC POST-VALIDATION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905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D9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10  /  DEFENSIBILITY &amp; SCALE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52500"/>
            <a:ext cx="142875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The moat is the deployment system.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2857500"/>
            <a:ext cx="13811250" cy="1066800"/>
            <a:chOff x="0" y="0"/>
            <a:chExt cx="18415000" cy="142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15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8415000">
                  <a:moveTo>
                    <a:pt x="0" y="0"/>
                  </a:moveTo>
                  <a:lnTo>
                    <a:pt x="18415000" y="0"/>
                  </a:lnTo>
                  <a:lnTo>
                    <a:pt x="18415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10243C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415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8275" y="4286250"/>
            <a:ext cx="12763500" cy="1066800"/>
            <a:chOff x="0" y="0"/>
            <a:chExt cx="17018000" cy="1422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18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7018000">
                  <a:moveTo>
                    <a:pt x="0" y="0"/>
                  </a:moveTo>
                  <a:lnTo>
                    <a:pt x="17018000" y="0"/>
                  </a:lnTo>
                  <a:lnTo>
                    <a:pt x="17018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12304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7018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62150" y="5715000"/>
            <a:ext cx="11715750" cy="1066800"/>
            <a:chOff x="0" y="0"/>
            <a:chExt cx="15621000" cy="1422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621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5621000">
                  <a:moveTo>
                    <a:pt x="0" y="0"/>
                  </a:moveTo>
                  <a:lnTo>
                    <a:pt x="15621000" y="0"/>
                  </a:lnTo>
                  <a:lnTo>
                    <a:pt x="15621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14416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621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486025" y="7143750"/>
            <a:ext cx="10668000" cy="1066800"/>
            <a:chOff x="0" y="0"/>
            <a:chExt cx="14224000" cy="1422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224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224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38250" y="3000375"/>
            <a:ext cx="28575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D9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HARDWARE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86250" y="3057525"/>
            <a:ext cx="904875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Purpose-built enclosure, antenna + power optimization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62125" y="4429125"/>
            <a:ext cx="28575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D9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EXPERIENCE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10125" y="4486275"/>
            <a:ext cx="904875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Extremely simple setup and placement guidance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86000" y="5857875"/>
            <a:ext cx="28575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D9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WORKFLOW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34000" y="5915025"/>
            <a:ext cx="904875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Fleet management + temporary-deployment software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09875" y="7286625"/>
            <a:ext cx="28575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D9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TRUST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57875" y="7343775"/>
            <a:ext cx="904875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Institutional relationships, reliability data, field proof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8772525"/>
            <a:ext cx="1571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7890A8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REALITY CHECK  /  A basic repeater alone is not strongly defensible. No patent or proprietary R&amp;D claims yet.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905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1677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11  /  ROADMAP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52500"/>
            <a:ext cx="142875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33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Six gates from insight to launch.</a:t>
            </a:r>
          </a:p>
        </p:txBody>
      </p:sp>
      <p:sp>
        <p:nvSpPr>
          <p:cNvPr name="AutoShape 4" id="4"/>
          <p:cNvSpPr/>
          <p:nvPr/>
        </p:nvSpPr>
        <p:spPr>
          <a:xfrm>
            <a:off x="1428750" y="4810125"/>
            <a:ext cx="15335250" cy="0"/>
          </a:xfrm>
          <a:prstGeom prst="line">
            <a:avLst/>
          </a:prstGeom>
          <a:ln cap="rnd" w="57150">
            <a:solidFill>
              <a:srgbClr val="CBD8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47750" y="4429125"/>
            <a:ext cx="762000" cy="762000"/>
            <a:chOff x="0" y="0"/>
            <a:chExt cx="1016000" cy="10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788561" y="0"/>
                    <a:pt x="1016000" y="227439"/>
                    <a:pt x="1016000" y="508000"/>
                  </a:cubicBezTo>
                  <a:cubicBezTo>
                    <a:pt x="1016000" y="788561"/>
                    <a:pt x="788561" y="1016000"/>
                    <a:pt x="508000" y="1016000"/>
                  </a:cubicBezTo>
                  <a:cubicBezTo>
                    <a:pt x="227439" y="1016000"/>
                    <a:pt x="0" y="788561"/>
                    <a:pt x="0" y="508000"/>
                  </a:cubicBezTo>
                  <a:cubicBezTo>
                    <a:pt x="0" y="227439"/>
                    <a:pt x="227439" y="0"/>
                    <a:pt x="508000" y="0"/>
                  </a:cubicBezTo>
                  <a:close/>
                </a:path>
              </a:pathLst>
            </a:custGeom>
            <a:solidFill>
              <a:srgbClr val="1677FF"/>
            </a:solidFill>
            <a:ln w="47625" cap="sq">
              <a:solidFill>
                <a:srgbClr val="1677FF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829050" y="4429125"/>
            <a:ext cx="762000" cy="762000"/>
            <a:chOff x="0" y="0"/>
            <a:chExt cx="1016000" cy="10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788561" y="0"/>
                    <a:pt x="1016000" y="227439"/>
                    <a:pt x="1016000" y="508000"/>
                  </a:cubicBezTo>
                  <a:cubicBezTo>
                    <a:pt x="1016000" y="788561"/>
                    <a:pt x="788561" y="1016000"/>
                    <a:pt x="508000" y="1016000"/>
                  </a:cubicBezTo>
                  <a:cubicBezTo>
                    <a:pt x="227439" y="1016000"/>
                    <a:pt x="0" y="788561"/>
                    <a:pt x="0" y="508000"/>
                  </a:cubicBezTo>
                  <a:cubicBezTo>
                    <a:pt x="0" y="227439"/>
                    <a:pt x="227439" y="0"/>
                    <a:pt x="508000" y="0"/>
                  </a:cubicBezTo>
                  <a:close/>
                </a:path>
              </a:pathLst>
            </a:custGeom>
            <a:solidFill>
              <a:srgbClr val="1677FF"/>
            </a:solidFill>
            <a:ln w="47625" cap="sq">
              <a:solidFill>
                <a:srgbClr val="1677F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610350" y="4429125"/>
            <a:ext cx="762000" cy="762000"/>
            <a:chOff x="0" y="0"/>
            <a:chExt cx="1016000" cy="10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788561" y="0"/>
                    <a:pt x="1016000" y="227439"/>
                    <a:pt x="1016000" y="508000"/>
                  </a:cubicBezTo>
                  <a:cubicBezTo>
                    <a:pt x="1016000" y="788561"/>
                    <a:pt x="788561" y="1016000"/>
                    <a:pt x="508000" y="1016000"/>
                  </a:cubicBezTo>
                  <a:cubicBezTo>
                    <a:pt x="227439" y="1016000"/>
                    <a:pt x="0" y="788561"/>
                    <a:pt x="0" y="508000"/>
                  </a:cubicBezTo>
                  <a:cubicBezTo>
                    <a:pt x="0" y="227439"/>
                    <a:pt x="227439" y="0"/>
                    <a:pt x="5080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77F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391650" y="4429125"/>
            <a:ext cx="762000" cy="762000"/>
            <a:chOff x="0" y="0"/>
            <a:chExt cx="1016000" cy="101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788561" y="0"/>
                    <a:pt x="1016000" y="227439"/>
                    <a:pt x="1016000" y="508000"/>
                  </a:cubicBezTo>
                  <a:cubicBezTo>
                    <a:pt x="1016000" y="788561"/>
                    <a:pt x="788561" y="1016000"/>
                    <a:pt x="508000" y="1016000"/>
                  </a:cubicBezTo>
                  <a:cubicBezTo>
                    <a:pt x="227439" y="1016000"/>
                    <a:pt x="0" y="788561"/>
                    <a:pt x="0" y="508000"/>
                  </a:cubicBezTo>
                  <a:cubicBezTo>
                    <a:pt x="0" y="227439"/>
                    <a:pt x="227439" y="0"/>
                    <a:pt x="5080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77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172950" y="4429125"/>
            <a:ext cx="762000" cy="762000"/>
            <a:chOff x="0" y="0"/>
            <a:chExt cx="1016000" cy="101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788561" y="0"/>
                    <a:pt x="1016000" y="227439"/>
                    <a:pt x="1016000" y="508000"/>
                  </a:cubicBezTo>
                  <a:cubicBezTo>
                    <a:pt x="1016000" y="788561"/>
                    <a:pt x="788561" y="1016000"/>
                    <a:pt x="508000" y="1016000"/>
                  </a:cubicBezTo>
                  <a:cubicBezTo>
                    <a:pt x="227439" y="1016000"/>
                    <a:pt x="0" y="788561"/>
                    <a:pt x="0" y="508000"/>
                  </a:cubicBezTo>
                  <a:cubicBezTo>
                    <a:pt x="0" y="227439"/>
                    <a:pt x="227439" y="0"/>
                    <a:pt x="5080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77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4954250" y="4429125"/>
            <a:ext cx="762000" cy="762000"/>
            <a:chOff x="0" y="0"/>
            <a:chExt cx="1016000" cy="101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788561" y="0"/>
                    <a:pt x="1016000" y="227439"/>
                    <a:pt x="1016000" y="508000"/>
                  </a:cubicBezTo>
                  <a:cubicBezTo>
                    <a:pt x="1016000" y="788561"/>
                    <a:pt x="788561" y="1016000"/>
                    <a:pt x="508000" y="1016000"/>
                  </a:cubicBezTo>
                  <a:cubicBezTo>
                    <a:pt x="227439" y="1016000"/>
                    <a:pt x="0" y="788561"/>
                    <a:pt x="0" y="508000"/>
                  </a:cubicBezTo>
                  <a:cubicBezTo>
                    <a:pt x="0" y="227439"/>
                    <a:pt x="227439" y="0"/>
                    <a:pt x="5080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77F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571500" y="3276600"/>
            <a:ext cx="1714500" cy="2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5"/>
              </a:lnSpc>
            </a:pPr>
            <a:r>
              <a:rPr lang="en-US" sz="1425" b="true">
                <a:solidFill>
                  <a:srgbClr val="167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01 RESEARCH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3375" y="3733800"/>
            <a:ext cx="219075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275">
                <a:solidFill>
                  <a:srgbClr val="10233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Interviews + feasibility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52800" y="5324475"/>
            <a:ext cx="1714500" cy="2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5"/>
              </a:lnSpc>
            </a:pPr>
            <a:r>
              <a:rPr lang="en-US" sz="1425" b="true">
                <a:solidFill>
                  <a:srgbClr val="167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02 MVP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14675" y="5781675"/>
            <a:ext cx="219075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275">
                <a:solidFill>
                  <a:srgbClr val="10233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Relay + battery + indicator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34100" y="3276600"/>
            <a:ext cx="1714500" cy="2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5"/>
              </a:lnSpc>
            </a:pPr>
            <a:r>
              <a:rPr lang="en-US" sz="1425" b="true">
                <a:solidFill>
                  <a:srgbClr val="167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03 TESTING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95975" y="3733800"/>
            <a:ext cx="219075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275">
                <a:solidFill>
                  <a:srgbClr val="10233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Range + speed + battery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15400" y="5324475"/>
            <a:ext cx="1714500" cy="2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5"/>
              </a:lnSpc>
            </a:pPr>
            <a:r>
              <a:rPr lang="en-US" sz="1425" b="true">
                <a:solidFill>
                  <a:srgbClr val="167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04 PILOT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77275" y="5781675"/>
            <a:ext cx="219075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275">
                <a:solidFill>
                  <a:srgbClr val="10233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Campus/event deployment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96700" y="3276600"/>
            <a:ext cx="1714500" cy="2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5"/>
              </a:lnSpc>
            </a:pPr>
            <a:r>
              <a:rPr lang="en-US" sz="1425" b="true">
                <a:solidFill>
                  <a:srgbClr val="167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05 PRODUCT DEV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58575" y="3733800"/>
            <a:ext cx="2190750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275">
                <a:solidFill>
                  <a:srgbClr val="10233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PCB + enclosure + certification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478000" y="5324475"/>
            <a:ext cx="1714500" cy="2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5"/>
              </a:lnSpc>
            </a:pPr>
            <a:r>
              <a:rPr lang="en-US" sz="1425" b="true">
                <a:solidFill>
                  <a:srgbClr val="167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06 LAUNCH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239875" y="5781675"/>
            <a:ext cx="219075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275">
                <a:solidFill>
                  <a:srgbClr val="10233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Small batch + iteration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" y="7877175"/>
            <a:ext cx="11430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0233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CURRENT FOCUS  /  Research → functional MVP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39500" y="1714500"/>
            <a:ext cx="4762500" cy="47625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2">
                <a:alphaModFix amt="17999"/>
              </a:blip>
              <a:stretch>
                <a:fillRect l="-15660" t="0" r="64339" b="80000"/>
              </a:stretch>
            </a:blipFill>
            <a:ln w="76200" cap="sq">
              <a:solidFill>
                <a:srgbClr val="20D9FF">
                  <a:alpha val="17647"/>
                </a:srgbClr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715625" y="1190625"/>
            <a:ext cx="5810250" cy="5810250"/>
            <a:chOff x="0" y="0"/>
            <a:chExt cx="7747000" cy="774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47000" cy="7747000"/>
            </a:xfrm>
            <a:custGeom>
              <a:avLst/>
              <a:gdLst/>
              <a:ahLst/>
              <a:cxnLst/>
              <a:rect r="r" b="b" t="t" l="l"/>
              <a:pathLst>
                <a:path h="7747000" w="7747000">
                  <a:moveTo>
                    <a:pt x="3873500" y="0"/>
                  </a:moveTo>
                  <a:cubicBezTo>
                    <a:pt x="6012775" y="0"/>
                    <a:pt x="7747000" y="1734225"/>
                    <a:pt x="7747000" y="3873500"/>
                  </a:cubicBezTo>
                  <a:cubicBezTo>
                    <a:pt x="7747000" y="6012775"/>
                    <a:pt x="6012775" y="7747000"/>
                    <a:pt x="3873500" y="7747000"/>
                  </a:cubicBezTo>
                  <a:cubicBezTo>
                    <a:pt x="1734225" y="7747000"/>
                    <a:pt x="0" y="6012775"/>
                    <a:pt x="0" y="3873500"/>
                  </a:cubicBezTo>
                  <a:cubicBezTo>
                    <a:pt x="0" y="1734225"/>
                    <a:pt x="1734225" y="0"/>
                    <a:pt x="3873500" y="0"/>
                  </a:cubicBezTo>
                  <a:close/>
                </a:path>
              </a:pathLst>
            </a:custGeom>
            <a:blipFill>
              <a:blip r:embed="rId2">
                <a:alphaModFix amt="15500"/>
              </a:blip>
              <a:stretch>
                <a:fillRect l="-12836" t="0" r="70769" b="83606"/>
              </a:stretch>
            </a:blipFill>
            <a:ln w="76200" cap="sq">
              <a:solidFill>
                <a:srgbClr val="20D9FF">
                  <a:alpha val="15294"/>
                </a:srgbClr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191750" y="666750"/>
            <a:ext cx="6858000" cy="6858000"/>
            <a:chOff x="0" y="0"/>
            <a:chExt cx="9144000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4572000" y="0"/>
                  </a:moveTo>
                  <a:cubicBezTo>
                    <a:pt x="7097046" y="0"/>
                    <a:pt x="9144000" y="2046954"/>
                    <a:pt x="9144000" y="4572000"/>
                  </a:cubicBezTo>
                  <a:cubicBezTo>
                    <a:pt x="9144000" y="7097046"/>
                    <a:pt x="7097046" y="9144000"/>
                    <a:pt x="4572000" y="9144000"/>
                  </a:cubicBezTo>
                  <a:cubicBezTo>
                    <a:pt x="2046954" y="9144000"/>
                    <a:pt x="0" y="7097046"/>
                    <a:pt x="0" y="4572000"/>
                  </a:cubicBezTo>
                  <a:cubicBezTo>
                    <a:pt x="0" y="2046954"/>
                    <a:pt x="2046954" y="0"/>
                    <a:pt x="4572000" y="0"/>
                  </a:cubicBezTo>
                  <a:close/>
                </a:path>
              </a:pathLst>
            </a:custGeom>
            <a:blipFill>
              <a:blip r:embed="rId2">
                <a:alphaModFix amt="13000"/>
              </a:blip>
              <a:stretch>
                <a:fillRect l="-10875" t="0" r="75235" b="86111"/>
              </a:stretch>
            </a:blipFill>
            <a:ln w="76200" cap="sq">
              <a:solidFill>
                <a:srgbClr val="20D9FF">
                  <a:alpha val="12941"/>
                </a:srgbClr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667875" y="142875"/>
            <a:ext cx="7905750" cy="7905750"/>
            <a:chOff x="0" y="0"/>
            <a:chExt cx="10541000" cy="1054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1000" cy="10541000"/>
            </a:xfrm>
            <a:custGeom>
              <a:avLst/>
              <a:gdLst/>
              <a:ahLst/>
              <a:cxnLst/>
              <a:rect r="r" b="b" t="t" l="l"/>
              <a:pathLst>
                <a:path h="10541000" w="10541000">
                  <a:moveTo>
                    <a:pt x="5270500" y="0"/>
                  </a:moveTo>
                  <a:cubicBezTo>
                    <a:pt x="8181316" y="0"/>
                    <a:pt x="10541000" y="2359683"/>
                    <a:pt x="10541000" y="5270500"/>
                  </a:cubicBezTo>
                  <a:cubicBezTo>
                    <a:pt x="10541000" y="8181316"/>
                    <a:pt x="8181316" y="10541000"/>
                    <a:pt x="5270500" y="10541000"/>
                  </a:cubicBezTo>
                  <a:cubicBezTo>
                    <a:pt x="2359683" y="10541000"/>
                    <a:pt x="0" y="8181316"/>
                    <a:pt x="0" y="5270500"/>
                  </a:cubicBezTo>
                  <a:cubicBezTo>
                    <a:pt x="0" y="2359683"/>
                    <a:pt x="2359683" y="0"/>
                    <a:pt x="5270500" y="0"/>
                  </a:cubicBezTo>
                  <a:close/>
                </a:path>
              </a:pathLst>
            </a:custGeom>
            <a:blipFill>
              <a:blip r:embed="rId2">
                <a:alphaModFix amt="10499"/>
              </a:blip>
              <a:stretch>
                <a:fillRect l="-9434" t="0" r="78517" b="87951"/>
              </a:stretch>
            </a:blipFill>
            <a:ln w="76200" cap="sq">
              <a:solidFill>
                <a:srgbClr val="20D9FF">
                  <a:alpha val="10196"/>
                </a:srgbClr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0" y="-381000"/>
            <a:ext cx="8953500" cy="8953500"/>
            <a:chOff x="0" y="0"/>
            <a:chExt cx="11938000" cy="1193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938000" cy="11938000"/>
            </a:xfrm>
            <a:custGeom>
              <a:avLst/>
              <a:gdLst/>
              <a:ahLst/>
              <a:cxnLst/>
              <a:rect r="r" b="b" t="t" l="l"/>
              <a:pathLst>
                <a:path h="11938000" w="11938000">
                  <a:moveTo>
                    <a:pt x="5969000" y="0"/>
                  </a:moveTo>
                  <a:cubicBezTo>
                    <a:pt x="9265587" y="0"/>
                    <a:pt x="11938000" y="2672412"/>
                    <a:pt x="11938000" y="5969000"/>
                  </a:cubicBezTo>
                  <a:cubicBezTo>
                    <a:pt x="11938000" y="9265587"/>
                    <a:pt x="9265587" y="11938000"/>
                    <a:pt x="5969000" y="11938000"/>
                  </a:cubicBezTo>
                  <a:cubicBezTo>
                    <a:pt x="2672412" y="11938000"/>
                    <a:pt x="0" y="9265587"/>
                    <a:pt x="0" y="5969000"/>
                  </a:cubicBezTo>
                  <a:cubicBezTo>
                    <a:pt x="0" y="2672412"/>
                    <a:pt x="2672412" y="0"/>
                    <a:pt x="5969000" y="0"/>
                  </a:cubicBezTo>
                  <a:close/>
                </a:path>
              </a:pathLst>
            </a:custGeom>
            <a:blipFill>
              <a:blip r:embed="rId2">
                <a:alphaModFix amt="7999"/>
              </a:blip>
              <a:stretch>
                <a:fillRect l="-8330" t="0" r="81031" b="89361"/>
              </a:stretch>
            </a:blipFill>
            <a:ln w="76200" cap="sq">
              <a:solidFill>
                <a:srgbClr val="20D9FF">
                  <a:alpha val="7843"/>
                </a:srgbClr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14400" y="666750"/>
            <a:ext cx="4762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D9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12 /  THE ASK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1676400"/>
            <a:ext cx="10001250" cy="1948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8"/>
              </a:lnSpc>
            </a:pPr>
            <a:r>
              <a:rPr lang="en-US" sz="69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Help us prove</a:t>
            </a:r>
          </a:p>
          <a:p>
            <a:pPr algn="l">
              <a:lnSpc>
                <a:spcPts val="7038"/>
              </a:lnSpc>
            </a:pPr>
            <a:r>
              <a:rPr lang="en-US" sz="69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the signal travels.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4067175"/>
            <a:ext cx="85725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B7C8D9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Validate the problem — and the technical and commercial feasibility of a portable Wi-Fi relay.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6162675"/>
            <a:ext cx="93345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D9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WE NEED  /  Prototype resources • hardware mentorship • test locations • pilot opportunities • customer introductions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7439025"/>
            <a:ext cx="100012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NEXT  /  Functional MVP → interviews → alternative testing → BOM + pricing → real-world pilot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8972550"/>
            <a:ext cx="142875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Connectivity shouldn't stop where the router's coverage does.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DAHUtO1HNeM</dc:identifier>
  <dcterms:modified xsi:type="dcterms:W3CDTF">2011-08-01T06:04:30Z</dcterms:modified>
  <cp:revision>1</cp:revision>
  <dc:title>Team Name : RelayX Members : Saqib Shaik (25BCA7695)</dc:title>
</cp:coreProperties>
</file>